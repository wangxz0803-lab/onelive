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9ad66b2b4b4146" /><Relationship Type="http://schemas.openxmlformats.org/officeDocument/2006/relationships/extended-properties" Target="/docProps/app.xml" Id="R7a7969f77f7b45e3" /><Relationship Type="http://schemas.openxmlformats.org/officeDocument/2006/relationships/officeDocument" Target="/ppt/presentation.xml" Id="Rdcc3e94f02164c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31c84885944d01"/>
  </p:sldMasterIdLst>
  <p:notesMasterIdLst>
    <p:notesMasterId xmlns:r="http://schemas.openxmlformats.org/officeDocument/2006/relationships" r:id="R63d481ad68444072"/>
  </p:notesMasterIdLst>
  <p:sldIdLst>
    <p:sldId xmlns:r="http://schemas.openxmlformats.org/officeDocument/2006/relationships" id="256" r:id="R79a5b8a03b3e4581"/>
    <p:sldId xmlns:r="http://schemas.openxmlformats.org/officeDocument/2006/relationships" id="257" r:id="R1f9cf9e398064692"/>
    <p:sldId xmlns:r="http://schemas.openxmlformats.org/officeDocument/2006/relationships" id="258" r:id="R7f9f8536430e4b5b"/>
    <p:sldId xmlns:r="http://schemas.openxmlformats.org/officeDocument/2006/relationships" id="259" r:id="R54ace464cccb4c23"/>
    <p:sldId xmlns:r="http://schemas.openxmlformats.org/officeDocument/2006/relationships" id="260" r:id="Rb123716af1434dbd"/>
    <p:sldId xmlns:r="http://schemas.openxmlformats.org/officeDocument/2006/relationships" id="261" r:id="Rce8778d8aaa747d7"/>
    <p:sldId xmlns:r="http://schemas.openxmlformats.org/officeDocument/2006/relationships" id="262" r:id="R9aec9fd15fd7424f"/>
    <p:sldId xmlns:r="http://schemas.openxmlformats.org/officeDocument/2006/relationships" id="263" r:id="R4d59022cfc354d8d"/>
    <p:sldId xmlns:r="http://schemas.openxmlformats.org/officeDocument/2006/relationships" id="264" r:id="R9082ff3ccdf846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691ad2e68a4f8a" /><Relationship Type="http://schemas.openxmlformats.org/officeDocument/2006/relationships/slideMaster" Target="/ppt/slideMasters/slideMaster1.xml" Id="R3f31c84885944d01" /><Relationship Type="http://schemas.openxmlformats.org/officeDocument/2006/relationships/notesMaster" Target="/ppt/notesMasters/notesMaster1.xml" Id="R63d481ad68444072" /><Relationship Type="http://schemas.openxmlformats.org/officeDocument/2006/relationships/presProps" Target="/ppt/presProps.xml" Id="R9fcb11843fdd4ca8" /><Relationship Type="http://schemas.openxmlformats.org/officeDocument/2006/relationships/tableStyles" Target="/ppt/tableStyles.xml" Id="R1ab5ac0c329c4a71" /><Relationship Type="http://schemas.openxmlformats.org/officeDocument/2006/relationships/slide" Target="/ppt/slides/slide1.xml" Id="R79a5b8a03b3e4581" /><Relationship Type="http://schemas.openxmlformats.org/officeDocument/2006/relationships/slide" Target="/ppt/slides/slide2.xml" Id="R1f9cf9e398064692" /><Relationship Type="http://schemas.openxmlformats.org/officeDocument/2006/relationships/slide" Target="/ppt/slides/slide3.xml" Id="R7f9f8536430e4b5b" /><Relationship Type="http://schemas.openxmlformats.org/officeDocument/2006/relationships/slide" Target="/ppt/slides/slide4.xml" Id="R54ace464cccb4c23" /><Relationship Type="http://schemas.openxmlformats.org/officeDocument/2006/relationships/slide" Target="/ppt/slides/slide5.xml" Id="Rb123716af1434dbd" /><Relationship Type="http://schemas.openxmlformats.org/officeDocument/2006/relationships/slide" Target="/ppt/slides/slide6.xml" Id="Rce8778d8aaa747d7" /><Relationship Type="http://schemas.openxmlformats.org/officeDocument/2006/relationships/slide" Target="/ppt/slides/slide7.xml" Id="R9aec9fd15fd7424f" /><Relationship Type="http://schemas.openxmlformats.org/officeDocument/2006/relationships/slide" Target="/ppt/slides/slide8.xml" Id="R4d59022cfc354d8d" /><Relationship Type="http://schemas.openxmlformats.org/officeDocument/2006/relationships/slide" Target="/ppt/slides/slide9.xml" Id="R9082ff3ccdf846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9be9eb2e5e4b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8253df66bd499d" /><Relationship Type="http://schemas.openxmlformats.org/officeDocument/2006/relationships/notesMaster" Target="/ppt/notesMasters/notesMaster1.xml" Id="Re07c90c16fc84b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2bd36887684be6" /><Relationship Type="http://schemas.openxmlformats.org/officeDocument/2006/relationships/notesMaster" Target="/ppt/notesMasters/notesMaster1.xml" Id="R67fd1ded8a5847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4c6a647a1b42b6" /><Relationship Type="http://schemas.openxmlformats.org/officeDocument/2006/relationships/notesMaster" Target="/ppt/notesMasters/notesMaster1.xml" Id="Rb4c9a8dbb9c24b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76f61578624c86" /><Relationship Type="http://schemas.openxmlformats.org/officeDocument/2006/relationships/notesMaster" Target="/ppt/notesMasters/notesMaster1.xml" Id="R8805a9e048094e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93ef6fac0043e2" /><Relationship Type="http://schemas.openxmlformats.org/officeDocument/2006/relationships/notesMaster" Target="/ppt/notesMasters/notesMaster1.xml" Id="R52d78b17a2f647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1bbe484c1b4554" /><Relationship Type="http://schemas.openxmlformats.org/officeDocument/2006/relationships/notesMaster" Target="/ppt/notesMasters/notesMaster1.xml" Id="R1688227682bf43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8cf61544c441fe" /><Relationship Type="http://schemas.openxmlformats.org/officeDocument/2006/relationships/notesMaster" Target="/ppt/notesMasters/notesMaster1.xml" Id="Re34e561a922043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61cea0408f4177" /><Relationship Type="http://schemas.openxmlformats.org/officeDocument/2006/relationships/notesMaster" Target="/ppt/notesMasters/notesMaster1.xml" Id="Rb5f4c5e11bc44e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314e13f4704bd9" /><Relationship Type="http://schemas.openxmlformats.org/officeDocument/2006/relationships/notesMaster" Target="/ppt/notesMasters/notesMaster1.xml" Id="R4066196408b34c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OneLive 希望解决一个简单问题：同一场直播，如何不重复拍摄，就能面向多个市场表达。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OneLive project assets: public/demo-media/*.jpg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今天跨境直播往往需要重复组织主播、语言和拍摄。OneLive 关注的不是再做一个翻译器，而是减少重复内容生产。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OneLive product specification: docs/PRODUCT_SPEC.md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左侧是一段中文原始录屏，右侧是日本、拉美和印度三个目标效果样例。现场可以从这里切入 OneLive Demo，逐个点击市场查看。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OneLive project assets: public/demo-media/*.jpg</a:t>
            </a:r>
          </a:p>
          <a:p xmlns:a="http://schemas.openxmlformats.org/drawingml/2006/main">
            <a:r>
              <a:t>OneLive Demo screenshot: 01-localization-start.png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实时化之后，内容生成只是第一步。拥塞会影响画质，而视频路径与云端翻译语音路径延迟不一致时，会出现肉眼可见的音画错位。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RFC 3550: https://www.rfc-editor.org/info/rfc3550/</a:t>
            </a:r>
          </a:p>
          <a:p xmlns:a="http://schemas.openxmlformats.org/drawingml/2006/main">
            <a:r>
              <a:t>OneLive Demo screenshot: 05-high-latency.png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Edge 把时延敏感的处理放得更近，缩短推理和回传路径；QoD 在拥塞时保护指定关键业务流。两者改善不同问题，也都不会创造无限带宽。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ETSI MEC: https://www.etsi.org/technical-groups/mec/</a:t>
            </a:r>
          </a:p>
          <a:p xmlns:a="http://schemas.openxmlformats.org/drawingml/2006/main">
            <a:r>
              <a:t>GSMA Open Gateway: https://www.gsma.com/solutions-and-impact/gsma-open-gateway/gsma-open-gateway-api-descriptions/</a:t>
            </a:r>
          </a:p>
          <a:p xmlns:a="http://schemas.openxmlformats.org/drawingml/2006/main">
            <a:r>
              <a:t>OneLive Demo screenshot: 07-qod.png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Demo 用预生成视频验证目标体验；下一阶段先落地实时语音链路和同步，再逐步推进写实人物与场景的实时生成。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Research: https://research.google/blog/real-time-speech-to-speech-translation/</a:t>
            </a:r>
          </a:p>
          <a:p xmlns:a="http://schemas.openxmlformats.org/drawingml/2006/main">
            <a:r>
              <a:t>Meta AI Research: https://ai.meta.com/research/seamless-communication/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真实架构中，主播视频只上传一次。市场版本在区域或边缘 AI 节点分叉，随后分别分发，因此上行、AI 计算和下行分发需要分开建模。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OneLive architecture: docs/ARCHITECTURE.md</a:t>
            </a:r>
          </a:p>
          <a:p xmlns:a="http://schemas.openxmlformats.org/drawingml/2006/main">
            <a:r>
              <a:t>ETSI MEC: https://www.etsi.org/technical-groups/mec/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这套 Demo 展示的是目标体验和可控网络故事，不代表已经接入生产级 MEC、QoD 或实时视觉生成。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OneLive decisions: docs/DECISIONS.md</a:t>
            </a:r>
          </a:p>
          <a:p xmlns:a="http://schemas.openxmlformats.org/drawingml/2006/main">
            <a:r>
              <a:t>OneLive product specification: docs/PRODUCT_SPEC.md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实时语音、边缘计算、应用流网络保障和音视频同步都有标准或研究基础。主要工程挑战在于把它们稳定整合为多市场低时延系统。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RFC 3550: https://www.rfc-editor.org/info/rfc3550/</a:t>
            </a:r>
          </a:p>
          <a:p xmlns:a="http://schemas.openxmlformats.org/drawingml/2006/main">
            <a:r>
              <a:t>ETSI MEC: https://www.etsi.org/technical-groups/mec/</a:t>
            </a:r>
          </a:p>
          <a:p xmlns:a="http://schemas.openxmlformats.org/drawingml/2006/main">
            <a:r>
              <a:t>CAMARA QoD: https://github.com/camaraproject/QualityOnDemand</a:t>
            </a:r>
          </a:p>
          <a:p xmlns:a="http://schemas.openxmlformats.org/drawingml/2006/main">
            <a:r>
              <a:t>Google Research: https://research.google/blog/real-time-speech-to-speech-translation/</a:t>
            </a:r>
          </a:p>
          <a:p xmlns:a="http://schemas.openxmlformats.org/drawingml/2006/main">
            <a:r>
              <a:t>Meta AI Research: https://ai.meta.com/research/seamless-communication/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6064ff06841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b16d375296433a" /><Relationship Type="http://schemas.openxmlformats.org/officeDocument/2006/relationships/slideLayout" Target="/ppt/slideLayouts/slideLayout1.xml" Id="R8d722653317146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722653317146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8743d2bb6459c" /><Relationship Type="http://schemas.openxmlformats.org/officeDocument/2006/relationships/image" Target="/ppt/media/image.jpeg" Id="R31461d50319f4e2f" /><Relationship Type="http://schemas.openxmlformats.org/officeDocument/2006/relationships/image" Target="/ppt/media/image2.jpeg" Id="R5919b20cb3424a3c" /><Relationship Type="http://schemas.openxmlformats.org/officeDocument/2006/relationships/image" Target="/ppt/media/image3.jpeg" Id="R4a358dc67d5b42ec" /><Relationship Type="http://schemas.openxmlformats.org/officeDocument/2006/relationships/image" Target="/ppt/media/image4.jpeg" Id="Ra2552c5c591a4fa3" /><Relationship Type="http://schemas.openxmlformats.org/officeDocument/2006/relationships/notesSlide" Target="/ppt/notesSlides/notesSlide1.xml" Id="Raa40693f9e0f43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eb11781d44da8" /><Relationship Type="http://schemas.openxmlformats.org/officeDocument/2006/relationships/notesSlide" Target="/ppt/notesSlides/notesSlide2.xml" Id="Rd9baf474e65a4d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aa9a5859046dd" /><Relationship Type="http://schemas.openxmlformats.org/officeDocument/2006/relationships/image" Target="/ppt/media/image5.jpeg" Id="R1027873af8424d4f" /><Relationship Type="http://schemas.openxmlformats.org/officeDocument/2006/relationships/image" Target="/ppt/media/image6.jpeg" Id="R8c838e1e0c414423" /><Relationship Type="http://schemas.openxmlformats.org/officeDocument/2006/relationships/image" Target="/ppt/media/image7.jpeg" Id="R5e692c09d31941bb" /><Relationship Type="http://schemas.openxmlformats.org/officeDocument/2006/relationships/image" Target="/ppt/media/image8.jpeg" Id="R3c20d5b5e1b14470" /><Relationship Type="http://schemas.openxmlformats.org/officeDocument/2006/relationships/notesSlide" Target="/ppt/notesSlides/notesSlide3.xml" Id="R6d3e9351c73141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4528557ed4cb0" /><Relationship Type="http://schemas.openxmlformats.org/officeDocument/2006/relationships/image" Target="/ppt/media/image.png" Id="R3518a37efcde46ec" /><Relationship Type="http://schemas.openxmlformats.org/officeDocument/2006/relationships/notesSlide" Target="/ppt/notesSlides/notesSlide4.xml" Id="Rfa79744124d74a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1dd53847f4f0d" /><Relationship Type="http://schemas.openxmlformats.org/officeDocument/2006/relationships/image" Target="/ppt/media/image2.png" Id="R428e4943470347f8" /><Relationship Type="http://schemas.openxmlformats.org/officeDocument/2006/relationships/image" Target="/ppt/media/image3.png" Id="Rf228f38b5b574100" /><Relationship Type="http://schemas.openxmlformats.org/officeDocument/2006/relationships/notesSlide" Target="/ppt/notesSlides/notesSlide5.xml" Id="R3710b77879ef41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81a1193e548a7" /><Relationship Type="http://schemas.openxmlformats.org/officeDocument/2006/relationships/notesSlide" Target="/ppt/notesSlides/notesSlide6.xml" Id="Rd26bd9bb2d6741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227f3f4bf479d" /><Relationship Type="http://schemas.openxmlformats.org/officeDocument/2006/relationships/notesSlide" Target="/ppt/notesSlides/notesSlide7.xml" Id="Rd135b876afb341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70b2945304936" /><Relationship Type="http://schemas.openxmlformats.org/officeDocument/2006/relationships/notesSlide" Target="/ppt/notesSlides/notesSlide8.xml" Id="Rf6c52cfae0e44a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340b6be3d4b9c" /><Relationship Type="http://schemas.openxmlformats.org/officeDocument/2006/relationships/notesSlide" Target="/ppt/notesSlides/notesSlide9.xml" Id="R5657303c97fa4a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D2C59-88F7-4D33-96B2-729E63EA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CE7"/>
          </a:solidFill>
          <a:ln xmlns:a="http://schemas.openxmlformats.org/drawingml/2006/main" w="0">
            <a:solidFill>
              <a:srgbClr val="54DCE7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E1E0BA9-9B91-422D-82F7-0E2B4EA6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rPr>
              <a:t>ONE SOURCE · MANY MARKETS</a:t>
            </a:r>
          </a:p>
        </p:txBody>
      </p:sp>
      <p:sp>
        <p:nvSpPr>
          <p:cNvPr id="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6062F488-3221-4ED8-A56D-3392D7C8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2F5F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2F5F7"/>
                </a:solidFill>
                <a:latin typeface="Arial"/>
                <a:ea typeface="Arial"/>
                <a:cs typeface="Arial"/>
              </a:rPr>
              <a:t>OneLive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79AC95F-2C01-45D7-B06B-754ABA81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一次直播，</a:t>
            </a:r>
          </a:p>
          <a:p xmlns:a="http://schemas.openxmlformats.org/drawingml/2006/main">
            <a:pPr algn="l">
              <a:defRPr sz="36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面向多个市场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B1A4E36-BC2B-435E-9816-1D2EA208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38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基于 5G 与边缘 AI 的</a:t>
            </a:r>
          </a:p>
          <a:p xmlns:a="http://schemas.openxmlformats.org/drawingml/2006/main">
            <a:pPr algn="l">
              <a:defRPr sz="16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跨境直播本地化方案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E8C52-B060-4C9B-82C2-2B7FF5FE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CE7"/>
          </a:solidFill>
          <a:ln xmlns:a="http://schemas.openxmlformats.org/drawingml/2006/main" w="0">
            <a:solidFill>
              <a:srgbClr val="54DCE7"/>
            </a:solidFill>
            <a:prstDash val="solid"/>
          </a:ln>
        </p:spPr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5695FE6A-581A-450E-AEC1-65DB9C53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当前以四段视频稳定呈现目标体验</a:t>
            </a:r>
          </a:p>
        </p:txBody>
      </p:sp>
      <p:sp>
        <p:nvSpPr>
          <p:cNvPr id="8" name="frame-原片">
            <a:extLst xmlns:a="http://schemas.openxmlformats.org/drawingml/2006/main">
              <a:ext uri="{FF2B5EF4-FFF2-40B4-BE49-F238E27FC236}">
                <a16:creationId xmlns:a16="http://schemas.microsoft.com/office/drawing/2014/main" id="{02174910-BD06-49F7-AA30-20646163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43025"/>
            <a:ext cx="1162050" cy="41719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54DCE7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61d50319f4e2f"/>
          <a:srcRect xmlns:a="http://schemas.openxmlformats.org/drawingml/2006/main" l="26434" t="0" r="264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381125"/>
            <a:ext cx="1085850" cy="4095750"/>
          </a:xfrm>
          <a:prstGeom xmlns:a="http://schemas.openxmlformats.org/drawingml/2006/main" prst="roundRect">
            <a:avLst>
              <a:gd name="adj" fmla="val 10526"/>
            </a:avLst>
          </a:prstGeom>
        </p:spPr>
      </p:pic>
      <p:sp>
        <p:nvSpPr>
          <p:cNvPr id="10" name="label-原片">
            <a:extLst xmlns:a="http://schemas.openxmlformats.org/drawingml/2006/main">
              <a:ext uri="{FF2B5EF4-FFF2-40B4-BE49-F238E27FC236}">
                <a16:creationId xmlns:a16="http://schemas.microsoft.com/office/drawing/2014/main" id="{AF5576BB-D853-44C9-A0DD-CB73C246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7212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rPr>
              <a:t>原片</a:t>
            </a:r>
          </a:p>
        </p:txBody>
      </p:sp>
      <p:sp>
        <p:nvSpPr>
          <p:cNvPr id="11" name="frame-日本">
            <a:extLst xmlns:a="http://schemas.openxmlformats.org/drawingml/2006/main">
              <a:ext uri="{FF2B5EF4-FFF2-40B4-BE49-F238E27FC236}">
                <a16:creationId xmlns:a16="http://schemas.microsoft.com/office/drawing/2014/main" id="{E72ED419-2D03-41B9-A478-C4567B3F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2025"/>
            <a:ext cx="1162050" cy="41719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927B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9b20cb3424a3c"/>
          <a:srcRect xmlns:a="http://schemas.openxmlformats.org/drawingml/2006/main" l="26434" t="0" r="264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000125"/>
            <a:ext cx="1085850" cy="4095750"/>
          </a:xfrm>
          <a:prstGeom xmlns:a="http://schemas.openxmlformats.org/drawingml/2006/main" prst="roundRect">
            <a:avLst>
              <a:gd name="adj" fmla="val 10526"/>
            </a:avLst>
          </a:prstGeom>
        </p:spPr>
      </p:pic>
      <p:sp>
        <p:nvSpPr>
          <p:cNvPr id="13" name="label-日本">
            <a:extLst xmlns:a="http://schemas.openxmlformats.org/drawingml/2006/main">
              <a:ext uri="{FF2B5EF4-FFF2-40B4-BE49-F238E27FC236}">
                <a16:creationId xmlns:a16="http://schemas.microsoft.com/office/drawing/2014/main" id="{50C8BF1C-D973-4131-BF24-D7D4B307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9112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rPr>
              <a:t>日本</a:t>
            </a:r>
          </a:p>
        </p:txBody>
      </p:sp>
      <p:sp>
        <p:nvSpPr>
          <p:cNvPr id="14" name="frame-拉美">
            <a:extLst xmlns:a="http://schemas.openxmlformats.org/drawingml/2006/main">
              <a:ext uri="{FF2B5EF4-FFF2-40B4-BE49-F238E27FC236}">
                <a16:creationId xmlns:a16="http://schemas.microsoft.com/office/drawing/2014/main" id="{8C2327DE-3B6A-42A0-8BB8-D8902C47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43025"/>
            <a:ext cx="1162050" cy="41719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E7B66A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58dc67d5b42ec"/>
          <a:srcRect xmlns:a="http://schemas.openxmlformats.org/drawingml/2006/main" l="26434" t="0" r="264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1381125"/>
            <a:ext cx="1085850" cy="4095750"/>
          </a:xfrm>
          <a:prstGeom xmlns:a="http://schemas.openxmlformats.org/drawingml/2006/main" prst="roundRect">
            <a:avLst>
              <a:gd name="adj" fmla="val 10526"/>
            </a:avLst>
          </a:prstGeom>
        </p:spPr>
      </p:pic>
      <p:sp>
        <p:nvSpPr>
          <p:cNvPr id="16" name="label-拉美">
            <a:extLst xmlns:a="http://schemas.openxmlformats.org/drawingml/2006/main">
              <a:ext uri="{FF2B5EF4-FFF2-40B4-BE49-F238E27FC236}">
                <a16:creationId xmlns:a16="http://schemas.microsoft.com/office/drawing/2014/main" id="{DB0CC1FE-CAA6-4F70-ABBC-456FE033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7212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B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7B66A"/>
                </a:solidFill>
                <a:latin typeface="Microsoft YaHei"/>
                <a:ea typeface="Microsoft YaHei"/>
                <a:cs typeface="Microsoft YaHei"/>
              </a:rPr>
              <a:t>拉美</a:t>
            </a:r>
          </a:p>
        </p:txBody>
      </p:sp>
      <p:sp>
        <p:nvSpPr>
          <p:cNvPr id="17" name="frame-印度">
            <a:extLst xmlns:a="http://schemas.openxmlformats.org/drawingml/2006/main">
              <a:ext uri="{FF2B5EF4-FFF2-40B4-BE49-F238E27FC236}">
                <a16:creationId xmlns:a16="http://schemas.microsoft.com/office/drawing/2014/main" id="{C254FCC9-3993-4C17-BCD2-8ACA826E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962025"/>
            <a:ext cx="1162050" cy="41719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83E2BA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52c5c591a4fa3"/>
          <a:srcRect xmlns:a="http://schemas.openxmlformats.org/drawingml/2006/main" l="26434" t="0" r="264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0" y="1000125"/>
            <a:ext cx="1085850" cy="4095750"/>
          </a:xfrm>
          <a:prstGeom xmlns:a="http://schemas.openxmlformats.org/drawingml/2006/main" prst="roundRect">
            <a:avLst>
              <a:gd name="adj" fmla="val 10526"/>
            </a:avLst>
          </a:prstGeom>
        </p:spPr>
      </p:pic>
      <p:sp>
        <p:nvSpPr>
          <p:cNvPr id="19" name="label-印度">
            <a:extLst xmlns:a="http://schemas.openxmlformats.org/drawingml/2006/main">
              <a:ext uri="{FF2B5EF4-FFF2-40B4-BE49-F238E27FC236}">
                <a16:creationId xmlns:a16="http://schemas.microsoft.com/office/drawing/2014/main" id="{2BFE6B2C-38C9-4E47-9B96-6D588C28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9112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3E2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E2BA"/>
                </a:solidFill>
                <a:latin typeface="Microsoft YaHei"/>
                <a:ea typeface="Microsoft YaHei"/>
                <a:cs typeface="Microsoft YaHei"/>
              </a:rPr>
              <a:t>印度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ECA0E-5675-48B0-BC3F-B811A53C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21" name="footer-1">
            <a:extLst xmlns:a="http://schemas.openxmlformats.org/drawingml/2006/main">
              <a:ext uri="{FF2B5EF4-FFF2-40B4-BE49-F238E27FC236}">
                <a16:creationId xmlns:a16="http://schemas.microsoft.com/office/drawing/2014/main" id="{EA0DBC7A-A8BF-4387-82BE-1AA6F683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ONE SOURCE · MANY MARKETS · LIVE</a:t>
            </a:r>
          </a:p>
        </p:txBody>
      </p:sp>
      <p:sp>
        <p:nvSpPr>
          <p:cNvPr id="22" name="page-1">
            <a:extLst xmlns:a="http://schemas.openxmlformats.org/drawingml/2006/main">
              <a:ext uri="{FF2B5EF4-FFF2-40B4-BE49-F238E27FC236}">
                <a16:creationId xmlns:a16="http://schemas.microsoft.com/office/drawing/2014/main" id="{5D061B5B-8125-4DAE-84EC-CAC87D1B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5031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70472-343E-473A-8449-E1051B98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CE7"/>
          </a:solidFill>
          <a:ln xmlns:a="http://schemas.openxmlformats.org/drawingml/2006/main" w="0">
            <a:solidFill>
              <a:srgbClr val="54DCE7"/>
            </a:solidFill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866ECF7B-3AFF-47CE-B56F-AE9579FA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rPr>
              <a:t>01 · BUSINESS PROBLEM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DB9E390E-9279-46FE-815F-8DF1D286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跨境直播，不该重复生产三次</a:t>
            </a:r>
          </a:p>
        </p:txBody>
      </p:sp>
      <p:sp>
        <p:nvSpPr>
          <p:cNvPr id="4" name="p2-statement">
            <a:extLst xmlns:a="http://schemas.openxmlformats.org/drawingml/2006/main">
              <a:ext uri="{FF2B5EF4-FFF2-40B4-BE49-F238E27FC236}">
                <a16:creationId xmlns:a16="http://schemas.microsoft.com/office/drawing/2014/main" id="{FAC95E2A-C298-475F-834F-31F01A69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一次内容生产，</a:t>
            </a:r>
          </a:p>
          <a:p xmlns:a="http://schemas.openxmlformats.org/drawingml/2006/main">
            <a:pPr algn="l">
              <a:defRPr sz="34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不应被市场数量</a:t>
            </a:r>
          </a:p>
          <a:p xmlns:a="http://schemas.openxmlformats.org/drawingml/2006/main">
            <a:pPr algn="l">
              <a:defRPr sz="34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重复放大。</a:t>
            </a:r>
          </a:p>
        </p:txBody>
      </p:sp>
      <p:sp>
        <p:nvSpPr>
          <p:cNvPr id="5" name="p2-explain">
            <a:extLst xmlns:a="http://schemas.openxmlformats.org/drawingml/2006/main">
              <a:ext uri="{FF2B5EF4-FFF2-40B4-BE49-F238E27FC236}">
                <a16:creationId xmlns:a16="http://schemas.microsoft.com/office/drawing/2014/main" id="{DB0CFB66-8772-4538-8A92-F67FC118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问题不只是翻译，而是每进入一个市场，</a:t>
            </a:r>
          </a:p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都要重新组织内容、表达与交付。</a:t>
            </a:r>
          </a:p>
        </p:txBody>
      </p:sp>
      <p:sp>
        <p:nvSpPr>
          <p:cNvPr id="6" name="p2-num-01">
            <a:extLst xmlns:a="http://schemas.openxmlformats.org/drawingml/2006/main">
              <a:ext uri="{FF2B5EF4-FFF2-40B4-BE49-F238E27FC236}">
                <a16:creationId xmlns:a16="http://schemas.microsoft.com/office/drawing/2014/main" id="{53771A70-2ABA-4A4B-B09F-48793AC1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4DCE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4DC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12228-936E-4249-9803-EFC9FD67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812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8" name="p2-title-01">
            <a:extLst xmlns:a="http://schemas.openxmlformats.org/drawingml/2006/main">
              <a:ext uri="{FF2B5EF4-FFF2-40B4-BE49-F238E27FC236}">
                <a16:creationId xmlns:a16="http://schemas.microsoft.com/office/drawing/2014/main" id="{97D18F11-B4EB-49B1-9228-D341FFC9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390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重复拍摄</a:t>
            </a:r>
          </a:p>
        </p:txBody>
      </p:sp>
      <p:sp>
        <p:nvSpPr>
          <p:cNvPr id="9" name="p2-body-01">
            <a:extLst xmlns:a="http://schemas.openxmlformats.org/drawingml/2006/main">
              <a:ext uri="{FF2B5EF4-FFF2-40B4-BE49-F238E27FC236}">
                <a16:creationId xmlns:a16="http://schemas.microsoft.com/office/drawing/2014/main" id="{C2B50745-AF47-443B-B461-E3B137F4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主播、场地与商品流程再次组织</a:t>
            </a:r>
          </a:p>
        </p:txBody>
      </p:sp>
      <p:sp>
        <p:nvSpPr>
          <p:cNvPr id="10" name="p2-num-02">
            <a:extLst xmlns:a="http://schemas.openxmlformats.org/drawingml/2006/main">
              <a:ext uri="{FF2B5EF4-FFF2-40B4-BE49-F238E27FC236}">
                <a16:creationId xmlns:a16="http://schemas.microsoft.com/office/drawing/2014/main" id="{2FB045B3-1F53-4A87-BCAF-0EFE9314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27B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27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236A6-9CA0-43E1-9B6B-1B91BDD7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12" name="p2-title-02">
            <a:extLst xmlns:a="http://schemas.openxmlformats.org/drawingml/2006/main">
              <a:ext uri="{FF2B5EF4-FFF2-40B4-BE49-F238E27FC236}">
                <a16:creationId xmlns:a16="http://schemas.microsoft.com/office/drawing/2014/main" id="{A384A72D-A342-4AE7-8148-1132341A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76600"/>
            <a:ext cx="390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语言与表达差异</a:t>
            </a:r>
          </a:p>
        </p:txBody>
      </p:sp>
      <p:sp>
        <p:nvSpPr>
          <p:cNvPr id="13" name="p2-body-02">
            <a:extLst xmlns:a="http://schemas.openxmlformats.org/drawingml/2006/main">
              <a:ext uri="{FF2B5EF4-FFF2-40B4-BE49-F238E27FC236}">
                <a16:creationId xmlns:a16="http://schemas.microsoft.com/office/drawing/2014/main" id="{E32113E3-F141-4056-964A-291D44F6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同一句卖点需要符合当地观看习惯</a:t>
            </a:r>
          </a:p>
        </p:txBody>
      </p:sp>
      <p:sp>
        <p:nvSpPr>
          <p:cNvPr id="14" name="p2-num-03">
            <a:extLst xmlns:a="http://schemas.openxmlformats.org/drawingml/2006/main">
              <a:ext uri="{FF2B5EF4-FFF2-40B4-BE49-F238E27FC236}">
                <a16:creationId xmlns:a16="http://schemas.microsoft.com/office/drawing/2014/main" id="{7B7F07C4-5366-49E7-8819-5FCDD75E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B66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7B6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84BE1-C06B-4DBB-9855-BEF2EBB3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815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16" name="p2-title-03">
            <a:extLst xmlns:a="http://schemas.openxmlformats.org/drawingml/2006/main">
              <a:ext uri="{FF2B5EF4-FFF2-40B4-BE49-F238E27FC236}">
                <a16:creationId xmlns:a16="http://schemas.microsoft.com/office/drawing/2014/main" id="{FE4726BE-399A-46AA-B7C3-869FA486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390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实时交付不稳定</a:t>
            </a:r>
          </a:p>
        </p:txBody>
      </p:sp>
      <p:sp>
        <p:nvSpPr>
          <p:cNvPr id="17" name="p2-body-03">
            <a:extLst xmlns:a="http://schemas.openxmlformats.org/drawingml/2006/main">
              <a:ext uri="{FF2B5EF4-FFF2-40B4-BE49-F238E27FC236}">
                <a16:creationId xmlns:a16="http://schemas.microsoft.com/office/drawing/2014/main" id="{904A120C-BC5A-4576-A1AD-06C46EE7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768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清晰度、延迟与音画同步共同影响体验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57B44-8C18-4855-AA6A-3BA4A8C3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19" name="footer-2">
            <a:extLst xmlns:a="http://schemas.openxmlformats.org/drawingml/2006/main">
              <a:ext uri="{FF2B5EF4-FFF2-40B4-BE49-F238E27FC236}">
                <a16:creationId xmlns:a16="http://schemas.microsoft.com/office/drawing/2014/main" id="{F66CAF1B-A821-4FFC-BC07-D014F962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ONE SOURCE · MANY MARKETS · LIVE</a:t>
            </a:r>
          </a:p>
        </p:txBody>
      </p:sp>
      <p:sp>
        <p:nvSpPr>
          <p:cNvPr id="20" name="page-2">
            <a:extLst xmlns:a="http://schemas.openxmlformats.org/drawingml/2006/main">
              <a:ext uri="{FF2B5EF4-FFF2-40B4-BE49-F238E27FC236}">
                <a16:creationId xmlns:a16="http://schemas.microsoft.com/office/drawing/2014/main" id="{BEA1E1E5-C970-4922-AD94-1F3D86DD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4239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FBB1C4-29EC-4F28-AD91-C2A25D67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CE7"/>
          </a:solidFill>
          <a:ln xmlns:a="http://schemas.openxmlformats.org/drawingml/2006/main" w="0">
            <a:solidFill>
              <a:srgbClr val="54DCE7"/>
            </a:solidFill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C0E2FB61-1D45-46D8-9591-D5D3A6C4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rPr>
              <a:t>02 · CORE EXPERIENCE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8D5744B8-E185-4571-A5AC-F51AA48F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一路中文直播，形成三个本地化版本</a:t>
            </a:r>
          </a:p>
        </p:txBody>
      </p:sp>
      <p:sp>
        <p:nvSpPr>
          <p:cNvPr id="4" name="p3-frame-0">
            <a:extLst xmlns:a="http://schemas.openxmlformats.org/drawingml/2006/main">
              <a:ext uri="{FF2B5EF4-FFF2-40B4-BE49-F238E27FC236}">
                <a16:creationId xmlns:a16="http://schemas.microsoft.com/office/drawing/2014/main" id="{B4510D7A-FB3A-4B52-8B36-E01894AE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81250" cy="3733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22303D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7873af8424d4f"/>
          <a:srcRect xmlns:a="http://schemas.openxmlformats.org/drawingml/2006/main" l="0" t="12019" r="0" b="12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790700"/>
            <a:ext cx="2228850" cy="30099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9A65A-566E-4FCA-B0D7-8033CB07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CE7"/>
          </a:solidFill>
          <a:ln xmlns:a="http://schemas.openxmlformats.org/drawingml/2006/main" w="0">
            <a:solidFill>
              <a:srgbClr val="54DCE7"/>
            </a:solidFill>
            <a:prstDash val="solid"/>
          </a:ln>
        </p:spPr>
      </p:sp>
      <p:sp>
        <p:nvSpPr>
          <p:cNvPr id="7" name="p3-title-0">
            <a:extLst xmlns:a="http://schemas.openxmlformats.org/drawingml/2006/main">
              <a:ext uri="{FF2B5EF4-FFF2-40B4-BE49-F238E27FC236}">
                <a16:creationId xmlns:a16="http://schemas.microsoft.com/office/drawing/2014/main" id="{AA4E0F3C-A90C-4FB4-9D61-4149FAC0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中文原片</a:t>
            </a:r>
          </a:p>
        </p:txBody>
      </p:sp>
      <p:sp>
        <p:nvSpPr>
          <p:cNvPr id="8" name="p3-sub-0">
            <a:extLst xmlns:a="http://schemas.openxmlformats.org/drawingml/2006/main">
              <a:ext uri="{FF2B5EF4-FFF2-40B4-BE49-F238E27FC236}">
                <a16:creationId xmlns:a16="http://schemas.microsoft.com/office/drawing/2014/main" id="{D733BC66-6F1C-4C04-82BD-7B3B379B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唯一内容源</a:t>
            </a:r>
          </a:p>
        </p:txBody>
      </p:sp>
      <p:sp>
        <p:nvSpPr>
          <p:cNvPr id="9" name="p3-frame-1">
            <a:extLst xmlns:a="http://schemas.openxmlformats.org/drawingml/2006/main">
              <a:ext uri="{FF2B5EF4-FFF2-40B4-BE49-F238E27FC236}">
                <a16:creationId xmlns:a16="http://schemas.microsoft.com/office/drawing/2014/main" id="{03FC7BFA-279E-42FE-8CF9-52C0DB8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381250" cy="3733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22303D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38e1e0c414423"/>
          <a:srcRect xmlns:a="http://schemas.openxmlformats.org/drawingml/2006/main" l="0" t="12019" r="0" b="12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950" y="1790700"/>
            <a:ext cx="2228850" cy="30099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EA87E-0C72-4368-9F2B-D8472DC3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339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FF"/>
          </a:solidFill>
          <a:ln xmlns:a="http://schemas.openxmlformats.org/drawingml/2006/main" w="0">
            <a:solidFill>
              <a:srgbClr val="927BFF"/>
            </a:solidFill>
            <a:prstDash val="solid"/>
          </a:ln>
        </p:spPr>
      </p:sp>
      <p:sp>
        <p:nvSpPr>
          <p:cNvPr id="12" name="p3-title-1">
            <a:extLst xmlns:a="http://schemas.openxmlformats.org/drawingml/2006/main">
              <a:ext uri="{FF2B5EF4-FFF2-40B4-BE49-F238E27FC236}">
                <a16:creationId xmlns:a16="http://schemas.microsoft.com/office/drawing/2014/main" id="{ACE4BC82-2E2F-431F-8DBD-94AF1D80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482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日本 · 日语</a:t>
            </a:r>
          </a:p>
        </p:txBody>
      </p:sp>
      <p:sp>
        <p:nvSpPr>
          <p:cNvPr id="13" name="p3-sub-1">
            <a:extLst xmlns:a="http://schemas.openxmlformats.org/drawingml/2006/main">
              <a:ext uri="{FF2B5EF4-FFF2-40B4-BE49-F238E27FC236}">
                <a16:creationId xmlns:a16="http://schemas.microsoft.com/office/drawing/2014/main" id="{879ABA25-EE4A-496C-A727-9C348AFB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149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语言、服饰与直播间表达</a:t>
            </a:r>
          </a:p>
        </p:txBody>
      </p:sp>
      <p:sp>
        <p:nvSpPr>
          <p:cNvPr id="14" name="p3-frame-2">
            <a:extLst xmlns:a="http://schemas.openxmlformats.org/drawingml/2006/main">
              <a:ext uri="{FF2B5EF4-FFF2-40B4-BE49-F238E27FC236}">
                <a16:creationId xmlns:a16="http://schemas.microsoft.com/office/drawing/2014/main" id="{4C551E02-3ABB-4C21-B6D4-E7CBF79B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2381250" cy="3733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22303D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92c09d31941bb"/>
          <a:srcRect xmlns:a="http://schemas.openxmlformats.org/drawingml/2006/main" l="0" t="12019" r="0" b="12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1790700"/>
            <a:ext cx="2228850" cy="30099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D30FD-65F1-4E49-931D-A9EDD959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339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6A"/>
          </a:solidFill>
          <a:ln xmlns:a="http://schemas.openxmlformats.org/drawingml/2006/main" w="0">
            <a:solidFill>
              <a:srgbClr val="E7B66A"/>
            </a:solidFill>
            <a:prstDash val="solid"/>
          </a:ln>
        </p:spPr>
      </p:sp>
      <p:sp>
        <p:nvSpPr>
          <p:cNvPr id="17" name="p3-title-2">
            <a:extLst xmlns:a="http://schemas.openxmlformats.org/drawingml/2006/main">
              <a:ext uri="{FF2B5EF4-FFF2-40B4-BE49-F238E27FC236}">
                <a16:creationId xmlns:a16="http://schemas.microsoft.com/office/drawing/2014/main" id="{DB6E17AB-E51A-4744-AF48-C27385E9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482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拉美 · 西班牙语</a:t>
            </a:r>
          </a:p>
        </p:txBody>
      </p:sp>
      <p:sp>
        <p:nvSpPr>
          <p:cNvPr id="18" name="p3-sub-2">
            <a:extLst xmlns:a="http://schemas.openxmlformats.org/drawingml/2006/main">
              <a:ext uri="{FF2B5EF4-FFF2-40B4-BE49-F238E27FC236}">
                <a16:creationId xmlns:a16="http://schemas.microsoft.com/office/drawing/2014/main" id="{BF953774-420B-4ECE-A4FD-550BD2E9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149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语言、氛围与市场表达</a:t>
            </a:r>
          </a:p>
        </p:txBody>
      </p:sp>
      <p:sp>
        <p:nvSpPr>
          <p:cNvPr id="19" name="p3-frame-3">
            <a:extLst xmlns:a="http://schemas.openxmlformats.org/drawingml/2006/main">
              <a:ext uri="{FF2B5EF4-FFF2-40B4-BE49-F238E27FC236}">
                <a16:creationId xmlns:a16="http://schemas.microsoft.com/office/drawing/2014/main" id="{037F4F29-AC56-4FB1-B03B-0D42F1C1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14500"/>
            <a:ext cx="2381250" cy="3733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22303D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0d5b5e1b14470"/>
          <a:srcRect xmlns:a="http://schemas.openxmlformats.org/drawingml/2006/main" l="0" t="12019" r="0" b="12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5850" y="1790700"/>
            <a:ext cx="2228850" cy="30099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2EDF4-F3B6-4E66-A5CC-BFB9F69F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339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E2BA"/>
          </a:solidFill>
          <a:ln xmlns:a="http://schemas.openxmlformats.org/drawingml/2006/main" w="0">
            <a:solidFill>
              <a:srgbClr val="83E2BA"/>
            </a:solidFill>
            <a:prstDash val="solid"/>
          </a:ln>
        </p:spPr>
      </p:sp>
      <p:sp>
        <p:nvSpPr>
          <p:cNvPr id="22" name="p3-title-3">
            <a:extLst xmlns:a="http://schemas.openxmlformats.org/drawingml/2006/main">
              <a:ext uri="{FF2B5EF4-FFF2-40B4-BE49-F238E27FC236}">
                <a16:creationId xmlns:a16="http://schemas.microsoft.com/office/drawing/2014/main" id="{9118DD4D-F378-4623-8616-EDA6F691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482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印度 · 英语</a:t>
            </a:r>
          </a:p>
        </p:txBody>
      </p:sp>
      <p:sp>
        <p:nvSpPr>
          <p:cNvPr id="23" name="p3-sub-3">
            <a:extLst xmlns:a="http://schemas.openxmlformats.org/drawingml/2006/main">
              <a:ext uri="{FF2B5EF4-FFF2-40B4-BE49-F238E27FC236}">
                <a16:creationId xmlns:a16="http://schemas.microsoft.com/office/drawing/2014/main" id="{29812570-D10A-466E-86A7-F6489BE2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149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语言、服饰与市场表达</a:t>
            </a:r>
          </a:p>
        </p:txBody>
      </p:sp>
      <p:sp>
        <p:nvSpPr>
          <p:cNvPr id="24" name="p3-summary">
            <a:extLst xmlns:a="http://schemas.openxmlformats.org/drawingml/2006/main">
              <a:ext uri="{FF2B5EF4-FFF2-40B4-BE49-F238E27FC236}">
                <a16:creationId xmlns:a16="http://schemas.microsoft.com/office/drawing/2014/main" id="{24030A5C-280C-424D-9031-309B8F1D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rPr>
              <a:t>中文原片   →   日语   /   西班牙语   /   英语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4BAB07-E0B8-48D1-A667-A10C4D6B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26" name="footer-3">
            <a:extLst xmlns:a="http://schemas.openxmlformats.org/drawingml/2006/main">
              <a:ext uri="{FF2B5EF4-FFF2-40B4-BE49-F238E27FC236}">
                <a16:creationId xmlns:a16="http://schemas.microsoft.com/office/drawing/2014/main" id="{0F6C7E96-DDF4-46FE-A751-5E4D34B5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ONE SOURCE · MANY MARKETS · LIVE</a:t>
            </a:r>
          </a:p>
        </p:txBody>
      </p:sp>
      <p:sp>
        <p:nvSpPr>
          <p:cNvPr id="27" name="page-3">
            <a:extLst xmlns:a="http://schemas.openxmlformats.org/drawingml/2006/main">
              <a:ext uri="{FF2B5EF4-FFF2-40B4-BE49-F238E27FC236}">
                <a16:creationId xmlns:a16="http://schemas.microsoft.com/office/drawing/2014/main" id="{1C8A14E0-CB4E-4077-B0F9-B5B19C9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62670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8CA12-F34F-4718-A9F1-60B0422D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CE7"/>
          </a:solidFill>
          <a:ln xmlns:a="http://schemas.openxmlformats.org/drawingml/2006/main" w="0">
            <a:solidFill>
              <a:srgbClr val="54DCE7"/>
            </a:solidFill>
            <a:prstDash val="solid"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CC391CFC-246E-40E2-8C4C-7DDF80FF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rPr>
              <a:t>03 · REAL-TIME DELIVERY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C911888B-0CA6-47BF-BB13-A0E3D994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生成内容之后，真正的挑战是实时交付</a:t>
            </a:r>
          </a:p>
        </p:txBody>
      </p:sp>
      <p:sp>
        <p:nvSpPr>
          <p:cNvPr id="4" name="p4-lead">
            <a:extLst xmlns:a="http://schemas.openxmlformats.org/drawingml/2006/main">
              <a:ext uri="{FF2B5EF4-FFF2-40B4-BE49-F238E27FC236}">
                <a16:creationId xmlns:a16="http://schemas.microsoft.com/office/drawing/2014/main" id="{FA4F6336-64EB-483D-BB58-E4ECEE7A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343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同样是“看起来不好”，</a:t>
            </a:r>
          </a:p>
          <a:p xmlns:a="http://schemas.openxmlformats.org/drawingml/2006/main">
            <a:pPr algn="l">
              <a:defRPr sz="22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背后的原因并不相同。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1A2DF-1AE9-4CF5-9507-DAD02DE1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6" name="p4-a">
            <a:extLst xmlns:a="http://schemas.openxmlformats.org/drawingml/2006/main">
              <a:ext uri="{FF2B5EF4-FFF2-40B4-BE49-F238E27FC236}">
                <a16:creationId xmlns:a16="http://schemas.microsoft.com/office/drawing/2014/main" id="{A5C27579-FCB3-41A8-85AC-76B767CA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8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08A5D"/>
                </a:solidFill>
                <a:latin typeface="Microsoft YaHei"/>
                <a:ea typeface="Microsoft YaHei"/>
                <a:cs typeface="Microsoft YaHei"/>
              </a:rPr>
              <a:t>拥塞压缩有限资源</a:t>
            </a:r>
          </a:p>
        </p:txBody>
      </p:sp>
      <p:sp>
        <p:nvSpPr>
          <p:cNvPr id="7" name="p4-a-body">
            <a:extLst xmlns:a="http://schemas.openxmlformats.org/drawingml/2006/main">
              <a:ext uri="{FF2B5EF4-FFF2-40B4-BE49-F238E27FC236}">
                <a16:creationId xmlns:a16="http://schemas.microsoft.com/office/drawing/2014/main" id="{7E14CA1F-3D78-4976-A79F-C50A810F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码率下降、帧率降低或缓冲</a:t>
            </a:r>
          </a:p>
        </p:txBody>
      </p:sp>
      <p:sp>
        <p:nvSpPr>
          <p:cNvPr id="8" name="p4-b">
            <a:extLst xmlns:a="http://schemas.openxmlformats.org/drawingml/2006/main">
              <a:ext uri="{FF2B5EF4-FFF2-40B4-BE49-F238E27FC236}">
                <a16:creationId xmlns:a16="http://schemas.microsoft.com/office/drawing/2014/main" id="{181362F1-830E-4239-8FC6-73260DBF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rPr>
              <a:t>云端本地化语音链路滞后</a:t>
            </a:r>
          </a:p>
        </p:txBody>
      </p:sp>
      <p:sp>
        <p:nvSpPr>
          <p:cNvPr id="9" name="p4-b-body">
            <a:extLst xmlns:a="http://schemas.openxmlformats.org/drawingml/2006/main">
              <a:ext uri="{FF2B5EF4-FFF2-40B4-BE49-F238E27FC236}">
                <a16:creationId xmlns:a16="http://schemas.microsoft.com/office/drawing/2014/main" id="{A749CD25-6DDB-4701-A757-BB9AA892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视频仍清晰，但生成语音落后于口型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0B703-5203-46D3-985E-6A1EFF93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5D"/>
          </a:solidFill>
          <a:ln xmlns:a="http://schemas.openxmlformats.org/drawingml/2006/main" w="0">
            <a:solidFill>
              <a:srgbClr val="F08A5D"/>
            </a:solidFill>
            <a:prstDash val="solid"/>
          </a:ln>
        </p:spPr>
      </p:sp>
      <p:sp>
        <p:nvSpPr>
          <p:cNvPr id="11" name="p4-tag">
            <a:extLst xmlns:a="http://schemas.openxmlformats.org/drawingml/2006/main">
              <a:ext uri="{FF2B5EF4-FFF2-40B4-BE49-F238E27FC236}">
                <a16:creationId xmlns:a16="http://schemas.microsoft.com/office/drawing/2014/main" id="{3567F98B-6328-4DF4-89E6-5811D07F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8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08A5D"/>
                </a:solidFill>
                <a:latin typeface="Microsoft YaHei"/>
                <a:ea typeface="Microsoft YaHei"/>
                <a:cs typeface="Microsoft YaHei"/>
              </a:rPr>
              <a:t>演示数据 · EMULATED</a:t>
            </a:r>
          </a:p>
        </p:txBody>
      </p:sp>
      <p:sp>
        <p:nvSpPr>
          <p:cNvPr id="12" name="p4-shot-frame">
            <a:extLst xmlns:a="http://schemas.openxmlformats.org/drawingml/2006/main">
              <a:ext uri="{FF2B5EF4-FFF2-40B4-BE49-F238E27FC236}">
                <a16:creationId xmlns:a16="http://schemas.microsoft.com/office/drawing/2014/main" id="{4F589563-4435-498D-A0BB-376CCD42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76400"/>
            <a:ext cx="57531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F08A5D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8a37efcde46ec"/>
          <a:srcRect xmlns:a="http://schemas.openxmlformats.org/drawingml/2006/main" l="869" t="0" r="8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1752600"/>
            <a:ext cx="5600700" cy="3562350"/>
          </a:xfrm>
          <a:prstGeom xmlns:a="http://schemas.openxmlformats.org/drawingml/2006/main" prst="roundRect">
            <a:avLst>
              <a:gd name="adj" fmla="val 3209"/>
            </a:avLst>
          </a:prstGeom>
        </p:spPr>
      </p:pic>
      <p:sp>
        <p:nvSpPr>
          <p:cNvPr id="14" name="p4-metric-bg">
            <a:extLst xmlns:a="http://schemas.openxmlformats.org/drawingml/2006/main">
              <a:ext uri="{FF2B5EF4-FFF2-40B4-BE49-F238E27FC236}">
                <a16:creationId xmlns:a16="http://schemas.microsoft.com/office/drawing/2014/main" id="{61995BF3-2CE3-416A-B70A-88E3E001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53000"/>
            <a:ext cx="4000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71018">
              <a:alpha val="93333"/>
            </a:srgbClr>
          </a:solidFill>
          <a:ln xmlns:a="http://schemas.openxmlformats.org/drawingml/2006/main" w="9525">
            <a:solidFill>
              <a:srgbClr val="22303D"/>
            </a:solidFill>
            <a:prstDash val="solid"/>
          </a:ln>
        </p:spPr>
      </p:sp>
      <p:sp>
        <p:nvSpPr>
          <p:cNvPr id="15" name="p4-av-value">
            <a:extLst xmlns:a="http://schemas.openxmlformats.org/drawingml/2006/main">
              <a:ext uri="{FF2B5EF4-FFF2-40B4-BE49-F238E27FC236}">
                <a16:creationId xmlns:a16="http://schemas.microsoft.com/office/drawing/2014/main" id="{71279DE5-40F2-4C82-BC51-4286B566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292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8A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8A5D"/>
                </a:solidFill>
                <a:latin typeface="Arial"/>
                <a:ea typeface="Arial"/>
                <a:cs typeface="Arial"/>
              </a:rPr>
              <a:t>1000 ms</a:t>
            </a:r>
          </a:p>
        </p:txBody>
      </p:sp>
      <p:sp>
        <p:nvSpPr>
          <p:cNvPr id="16" name="p4-av-label">
            <a:extLst xmlns:a="http://schemas.openxmlformats.org/drawingml/2006/main">
              <a:ext uri="{FF2B5EF4-FFF2-40B4-BE49-F238E27FC236}">
                <a16:creationId xmlns:a16="http://schemas.microsoft.com/office/drawing/2014/main" id="{AF555FFB-340F-4D61-AC7A-9D7E77A2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86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A/V SYNC · 模拟错位</a:t>
            </a:r>
          </a:p>
        </p:txBody>
      </p:sp>
      <p:sp>
        <p:nvSpPr>
          <p:cNvPr id="17" name="p4-path">
            <a:extLst xmlns:a="http://schemas.openxmlformats.org/drawingml/2006/main">
              <a:ext uri="{FF2B5EF4-FFF2-40B4-BE49-F238E27FC236}">
                <a16:creationId xmlns:a16="http://schemas.microsoft.com/office/drawing/2014/main" id="{339BCE7B-A834-4762-A50D-112EDB79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006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视频路径 ≠ 翻译语音路径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103BB-FB53-4783-81DE-711BF4DE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19" name="footer-4">
            <a:extLst xmlns:a="http://schemas.openxmlformats.org/drawingml/2006/main">
              <a:ext uri="{FF2B5EF4-FFF2-40B4-BE49-F238E27FC236}">
                <a16:creationId xmlns:a16="http://schemas.microsoft.com/office/drawing/2014/main" id="{178B9A9E-50B1-489C-9D7B-CD0D7073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ONE SOURCE · MANY MARKETS · LIVE</a:t>
            </a:r>
          </a:p>
        </p:txBody>
      </p:sp>
      <p:sp>
        <p:nvSpPr>
          <p:cNvPr id="20" name="page-4">
            <a:extLst xmlns:a="http://schemas.openxmlformats.org/drawingml/2006/main">
              <a:ext uri="{FF2B5EF4-FFF2-40B4-BE49-F238E27FC236}">
                <a16:creationId xmlns:a16="http://schemas.microsoft.com/office/drawing/2014/main" id="{0A466496-A04B-49D7-B776-E8041C9D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1131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5C051-F637-4E27-B49C-34AAE51B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CE7"/>
          </a:solidFill>
          <a:ln xmlns:a="http://schemas.openxmlformats.org/drawingml/2006/main" w="0">
            <a:solidFill>
              <a:srgbClr val="54DCE7"/>
            </a:solidFill>
            <a:prstDash val="solid"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1D2AE1D0-992C-4710-8D37-8F61D4D1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rPr>
              <a:t>04 · NETWORK ASSURANCE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5FE249F8-D4FE-42B1-AFE9-0900CB88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Edge 缩短链路，QoD 保护关键流</a:t>
            </a:r>
          </a:p>
        </p:txBody>
      </p:sp>
      <p:sp>
        <p:nvSpPr>
          <p:cNvPr id="4" name="p5-left-label">
            <a:extLst xmlns:a="http://schemas.openxmlformats.org/drawingml/2006/main">
              <a:ext uri="{FF2B5EF4-FFF2-40B4-BE49-F238E27FC236}">
                <a16:creationId xmlns:a16="http://schemas.microsoft.com/office/drawing/2014/main" id="{27200D63-F4DC-424F-9C25-C60525D2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8A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8A5D"/>
                </a:solidFill>
                <a:latin typeface="Arial"/>
                <a:ea typeface="Arial"/>
                <a:cs typeface="Arial"/>
              </a:rPr>
              <a:t>Cloud + Best Effort</a:t>
            </a:r>
          </a:p>
        </p:txBody>
      </p:sp>
      <p:sp>
        <p:nvSpPr>
          <p:cNvPr id="5" name="p5-right-label">
            <a:extLst xmlns:a="http://schemas.openxmlformats.org/drawingml/2006/main">
              <a:ext uri="{FF2B5EF4-FFF2-40B4-BE49-F238E27FC236}">
                <a16:creationId xmlns:a16="http://schemas.microsoft.com/office/drawing/2014/main" id="{DFFE0D78-7FCA-4864-81E2-D6E3396D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4DC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CE7"/>
                </a:solidFill>
                <a:latin typeface="Arial"/>
                <a:ea typeface="Arial"/>
                <a:cs typeface="Arial"/>
              </a:rPr>
              <a:t>Edge AI + QoD</a:t>
            </a:r>
          </a:p>
        </p:txBody>
      </p:sp>
      <p:sp>
        <p:nvSpPr>
          <p:cNvPr id="6" name="p5-left-frame">
            <a:extLst xmlns:a="http://schemas.openxmlformats.org/drawingml/2006/main">
              <a:ext uri="{FF2B5EF4-FFF2-40B4-BE49-F238E27FC236}">
                <a16:creationId xmlns:a16="http://schemas.microsoft.com/office/drawing/2014/main" id="{37DB2BD6-2DC6-4D30-A9E5-83FBED5E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7625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F08A5D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e4943470347f8"/>
          <a:srcRect xmlns:a="http://schemas.openxmlformats.org/drawingml/2006/main" l="0" t="3719" r="0" b="3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019300"/>
            <a:ext cx="4610100" cy="26670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8" name="p5-right-frame">
            <a:extLst xmlns:a="http://schemas.openxmlformats.org/drawingml/2006/main">
              <a:ext uri="{FF2B5EF4-FFF2-40B4-BE49-F238E27FC236}">
                <a16:creationId xmlns:a16="http://schemas.microsoft.com/office/drawing/2014/main" id="{47813C8F-5A0A-4007-BC02-E72864A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43100"/>
            <a:ext cx="47625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54DCE7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8f38b5b574100"/>
          <a:srcRect xmlns:a="http://schemas.openxmlformats.org/drawingml/2006/main" l="0" t="3719" r="0" b="3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019300"/>
            <a:ext cx="4610100" cy="26670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10" name="p5-arrow">
            <a:extLst xmlns:a="http://schemas.openxmlformats.org/drawingml/2006/main">
              <a:ext uri="{FF2B5EF4-FFF2-40B4-BE49-F238E27FC236}">
                <a16:creationId xmlns:a16="http://schemas.microsoft.com/office/drawing/2014/main" id="{ECD2F4DB-E433-458D-AF8B-961FDEBB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76550"/>
            <a:ext cx="723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927B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927B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p5-before-value">
            <a:extLst xmlns:a="http://schemas.openxmlformats.org/drawingml/2006/main">
              <a:ext uri="{FF2B5EF4-FFF2-40B4-BE49-F238E27FC236}">
                <a16:creationId xmlns:a16="http://schemas.microsoft.com/office/drawing/2014/main" id="{04043339-2772-429B-949E-22183D00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8A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8A5D"/>
                </a:solidFill>
                <a:latin typeface="Arial"/>
                <a:ea typeface="Arial"/>
                <a:cs typeface="Arial"/>
              </a:rPr>
              <a:t>1000 ms</a:t>
            </a:r>
          </a:p>
        </p:txBody>
      </p:sp>
      <p:sp>
        <p:nvSpPr>
          <p:cNvPr id="12" name="p5-before-label">
            <a:extLst xmlns:a="http://schemas.openxmlformats.org/drawingml/2006/main">
              <a:ext uri="{FF2B5EF4-FFF2-40B4-BE49-F238E27FC236}">
                <a16:creationId xmlns:a16="http://schemas.microsoft.com/office/drawing/2014/main" id="{722D0048-30ED-4201-B861-1B505FC1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A/V SYNC · 模拟</a:t>
            </a:r>
          </a:p>
        </p:txBody>
      </p:sp>
      <p:sp>
        <p:nvSpPr>
          <p:cNvPr id="13" name="p5-after-value">
            <a:extLst xmlns:a="http://schemas.openxmlformats.org/drawingml/2006/main">
              <a:ext uri="{FF2B5EF4-FFF2-40B4-BE49-F238E27FC236}">
                <a16:creationId xmlns:a16="http://schemas.microsoft.com/office/drawing/2014/main" id="{C851861D-EC2F-4C19-AB67-9116D026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149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4DCE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4DCE7"/>
                </a:solidFill>
                <a:latin typeface="Arial"/>
                <a:ea typeface="Arial"/>
                <a:cs typeface="Arial"/>
              </a:rPr>
              <a:t>≈100 ms</a:t>
            </a:r>
          </a:p>
        </p:txBody>
      </p:sp>
      <p:sp>
        <p:nvSpPr>
          <p:cNvPr id="14" name="p5-after-label">
            <a:extLst xmlns:a="http://schemas.openxmlformats.org/drawingml/2006/main">
              <a:ext uri="{FF2B5EF4-FFF2-40B4-BE49-F238E27FC236}">
                <a16:creationId xmlns:a16="http://schemas.microsoft.com/office/drawing/2014/main" id="{9383443A-3F72-471C-95E0-920C62EE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72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A/V SYNC · 模拟</a:t>
            </a:r>
          </a:p>
        </p:txBody>
      </p:sp>
      <p:sp>
        <p:nvSpPr>
          <p:cNvPr id="15" name="p5-edge">
            <a:extLst xmlns:a="http://schemas.openxmlformats.org/drawingml/2006/main">
              <a:ext uri="{FF2B5EF4-FFF2-40B4-BE49-F238E27FC236}">
                <a16:creationId xmlns:a16="http://schemas.microsoft.com/office/drawing/2014/main" id="{6E566134-838A-4F17-A9AF-94CACDC6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482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Edge：缩短处理与回传路径</a:t>
            </a:r>
          </a:p>
        </p:txBody>
      </p:sp>
      <p:sp>
        <p:nvSpPr>
          <p:cNvPr id="16" name="p5-qod">
            <a:extLst xmlns:a="http://schemas.openxmlformats.org/drawingml/2006/main">
              <a:ext uri="{FF2B5EF4-FFF2-40B4-BE49-F238E27FC236}">
                <a16:creationId xmlns:a16="http://schemas.microsoft.com/office/drawing/2014/main" id="{C95251C1-E006-4672-B7B9-39C8EFB7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482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QoD：有限资源优先保护关键流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E2111-74A9-4457-A1F6-4E49A8C1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FF"/>
          </a:solidFill>
          <a:ln xmlns:a="http://schemas.openxmlformats.org/drawingml/2006/main" w="0">
            <a:solidFill>
              <a:srgbClr val="927BFF"/>
            </a:solidFill>
            <a:prstDash val="solid"/>
          </a:ln>
        </p:spPr>
      </p:sp>
      <p:sp>
        <p:nvSpPr>
          <p:cNvPr id="18" name="p5-tag">
            <a:extLst xmlns:a="http://schemas.openxmlformats.org/drawingml/2006/main">
              <a:ext uri="{FF2B5EF4-FFF2-40B4-BE49-F238E27FC236}">
                <a16:creationId xmlns:a16="http://schemas.microsoft.com/office/drawing/2014/main" id="{8701FAD0-1CB8-44D5-8DDE-C6951D56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48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rPr>
              <a:t>演示数据 · EMULATED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A6CE5-04CC-4835-B8EE-974F970A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20" name="footer-5">
            <a:extLst xmlns:a="http://schemas.openxmlformats.org/drawingml/2006/main">
              <a:ext uri="{FF2B5EF4-FFF2-40B4-BE49-F238E27FC236}">
                <a16:creationId xmlns:a16="http://schemas.microsoft.com/office/drawing/2014/main" id="{B618053C-691A-4F12-BAD3-DB963D80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ONE SOURCE · MANY MARKETS · LIVE</a:t>
            </a:r>
          </a:p>
        </p:txBody>
      </p:sp>
      <p:sp>
        <p:nvSpPr>
          <p:cNvPr id="21" name="page-5">
            <a:extLst xmlns:a="http://schemas.openxmlformats.org/drawingml/2006/main">
              <a:ext uri="{FF2B5EF4-FFF2-40B4-BE49-F238E27FC236}">
                <a16:creationId xmlns:a16="http://schemas.microsoft.com/office/drawing/2014/main" id="{E8887763-0FFB-4608-ACE2-65C7638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52614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285F1-862C-4EE3-8E32-38650FDA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CE7"/>
          </a:solidFill>
          <a:ln xmlns:a="http://schemas.openxmlformats.org/drawingml/2006/main" w="0">
            <a:solidFill>
              <a:srgbClr val="54DCE7"/>
            </a:solidFill>
            <a:prstDash val="solid"/>
          </a:ln>
        </p:spPr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CB67D699-6698-4ECB-886C-9B3F0011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rPr>
              <a:t>05 · DELIVERY ROADMAP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B8528B53-9363-43EB-8791-BCB830B5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从效果样例，走向实时多市场直播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57C10-EAB8-43C8-8127-B0856D9F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9448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5" name="step-1-num">
            <a:extLst xmlns:a="http://schemas.openxmlformats.org/drawingml/2006/main">
              <a:ext uri="{FF2B5EF4-FFF2-40B4-BE49-F238E27FC236}">
                <a16:creationId xmlns:a16="http://schemas.microsoft.com/office/drawing/2014/main" id="{0DEB24E4-2B2A-4C29-B85F-7ED12CB5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85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4DCE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4DC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9966D-9460-44CD-98A0-D70FC4B3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78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CE7"/>
          </a:solidFill>
          <a:ln xmlns:a="http://schemas.openxmlformats.org/drawingml/2006/main" w="0">
            <a:solidFill>
              <a:srgbClr val="54DCE7"/>
            </a:solidFill>
            <a:prstDash val="solid"/>
          </a:ln>
        </p:spPr>
      </p:sp>
      <p:sp>
        <p:nvSpPr>
          <p:cNvPr id="7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411EE86A-9AA1-4862-A192-F680D407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8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CED48CC-3256-4F0A-9847-92636432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2781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预生成视频验证目标体验、</a:t>
            </a:r>
          </a:p>
          <a:p xmlns:a="http://schemas.openxmlformats.org/drawingml/2006/main">
            <a:pPr algn="l">
              <a:def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市场切换和网络保障故事。</a:t>
            </a:r>
          </a:p>
        </p:txBody>
      </p:sp>
      <p:sp>
        <p:nvSpPr>
          <p:cNvPr id="9" name="step-2-num">
            <a:extLst xmlns:a="http://schemas.openxmlformats.org/drawingml/2006/main">
              <a:ext uri="{FF2B5EF4-FFF2-40B4-BE49-F238E27FC236}">
                <a16:creationId xmlns:a16="http://schemas.microsoft.com/office/drawing/2014/main" id="{34B83492-F977-4B7E-9EB1-DDA256B4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52650"/>
            <a:ext cx="85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927B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927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63686-240B-4DC6-981D-42EE372E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38450"/>
            <a:ext cx="278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FF"/>
          </a:solidFill>
          <a:ln xmlns:a="http://schemas.openxmlformats.org/drawingml/2006/main" w="0">
            <a:solidFill>
              <a:srgbClr val="927BFF"/>
            </a:solidFill>
            <a:prstDash val="solid"/>
          </a:ln>
        </p:spPr>
      </p:sp>
      <p:sp>
        <p:nvSpPr>
          <p:cNvPr id="11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ED2BD97A-8F8A-45E5-A500-C7E359DF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12" name="step-2-body">
            <a:extLst xmlns:a="http://schemas.openxmlformats.org/drawingml/2006/main">
              <a:ext uri="{FF2B5EF4-FFF2-40B4-BE49-F238E27FC236}">
                <a16:creationId xmlns:a16="http://schemas.microsoft.com/office/drawing/2014/main" id="{6BB90595-24C8-4386-B217-AD0EC2C4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781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实时 ASR、翻译、目标语言语音</a:t>
            </a:r>
          </a:p>
          <a:p xmlns:a="http://schemas.openxmlformats.org/drawingml/2006/main">
            <a:pPr algn="l">
              <a:def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与口型同步。</a:t>
            </a:r>
          </a:p>
        </p:txBody>
      </p:sp>
      <p:sp>
        <p:nvSpPr>
          <p:cNvPr id="13" name="step-3-num">
            <a:extLst xmlns:a="http://schemas.openxmlformats.org/drawingml/2006/main">
              <a:ext uri="{FF2B5EF4-FFF2-40B4-BE49-F238E27FC236}">
                <a16:creationId xmlns:a16="http://schemas.microsoft.com/office/drawing/2014/main" id="{E5CE665C-A5C9-4B6C-9E17-6D6CA8D5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85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7B66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7B6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F6D9D-E088-4F28-ACA8-20AA35B3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278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6A"/>
          </a:solidFill>
          <a:ln xmlns:a="http://schemas.openxmlformats.org/drawingml/2006/main" w="0">
            <a:solidFill>
              <a:srgbClr val="E7B66A"/>
            </a:solidFill>
            <a:prstDash val="solid"/>
          </a:ln>
        </p:spPr>
      </p:sp>
      <p:sp>
        <p:nvSpPr>
          <p:cNvPr id="15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3CB66FEB-AA37-49FD-809A-E95341FA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长期目标</a:t>
            </a:r>
          </a:p>
        </p:txBody>
      </p:sp>
      <p:sp>
        <p:nvSpPr>
          <p:cNvPr id="16" name="step-3-body">
            <a:extLst xmlns:a="http://schemas.openxmlformats.org/drawingml/2006/main">
              <a:ext uri="{FF2B5EF4-FFF2-40B4-BE49-F238E27FC236}">
                <a16:creationId xmlns:a16="http://schemas.microsoft.com/office/drawing/2014/main" id="{4CCA4A3F-823B-4701-AE14-C4D25585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05200"/>
            <a:ext cx="2781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稳定的写实人物、场景</a:t>
            </a:r>
          </a:p>
          <a:p xmlns:a="http://schemas.openxmlformats.org/drawingml/2006/main">
            <a:pPr algn="l">
              <a:def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与三市场并行生成。</a:t>
            </a:r>
          </a:p>
        </p:txBody>
      </p:sp>
      <p:sp>
        <p:nvSpPr>
          <p:cNvPr id="17" name="p6-principle">
            <a:extLst xmlns:a="http://schemas.openxmlformats.org/drawingml/2006/main">
              <a:ext uri="{FF2B5EF4-FFF2-40B4-BE49-F238E27FC236}">
                <a16:creationId xmlns:a16="http://schemas.microsoft.com/office/drawing/2014/main" id="{8744798C-BF8E-48A1-A5A1-215431B5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66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先让语音链路实时，再让视觉生成实时。</a:t>
            </a:r>
          </a:p>
        </p:txBody>
      </p:sp>
      <p:sp>
        <p:nvSpPr>
          <p:cNvPr id="18" name="p6-close">
            <a:extLst xmlns:a="http://schemas.openxmlformats.org/drawingml/2006/main">
              <a:ext uri="{FF2B5EF4-FFF2-40B4-BE49-F238E27FC236}">
                <a16:creationId xmlns:a16="http://schemas.microsoft.com/office/drawing/2014/main" id="{3E29E4A4-8FAE-4C62-8486-603DE002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62600"/>
            <a:ext cx="518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54DCE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4DCE7"/>
                </a:solidFill>
                <a:latin typeface="Arial"/>
                <a:ea typeface="Arial"/>
                <a:cs typeface="Arial"/>
              </a:rPr>
              <a:t>One source. Many markets. Live.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D7E20-5AF5-4729-BAC0-A9B7FC49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20" name="footer-6">
            <a:extLst xmlns:a="http://schemas.openxmlformats.org/drawingml/2006/main">
              <a:ext uri="{FF2B5EF4-FFF2-40B4-BE49-F238E27FC236}">
                <a16:creationId xmlns:a16="http://schemas.microsoft.com/office/drawing/2014/main" id="{04ACFEED-B5C7-4929-A5C6-F3937E3E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ONE SOURCE · MANY MARKETS · LIVE</a:t>
            </a:r>
          </a:p>
        </p:txBody>
      </p:sp>
      <p:sp>
        <p:nvSpPr>
          <p:cNvPr id="21" name="page-6">
            <a:extLst xmlns:a="http://schemas.openxmlformats.org/drawingml/2006/main">
              <a:ext uri="{FF2B5EF4-FFF2-40B4-BE49-F238E27FC236}">
                <a16:creationId xmlns:a16="http://schemas.microsoft.com/office/drawing/2014/main" id="{FDD32DBB-F408-41EC-B7DE-176D44D6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2103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BD679E-DE5D-4F4B-A5DB-7187D957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FF"/>
          </a:solidFill>
          <a:ln xmlns:a="http://schemas.openxmlformats.org/drawingml/2006/main" w="0">
            <a:solidFill>
              <a:srgbClr val="927BFF"/>
            </a:solidFill>
            <a:prstDash val="solid"/>
          </a:ln>
        </p:spPr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B63C3566-EFFE-45C0-AD83-7C6A3FBA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rPr>
              <a:t>APPENDIX 01 · ARCHITECTURE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B180450F-BC1E-40C1-97AA-C24AE32C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真实系统只上传一次，再在 AI 节点分叉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C9253-238A-408B-9148-527F1E90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289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DBFC9-F6B8-4A61-9BC8-69FFEDE1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9AF33-15F6-4F04-9B52-6B9DC9B0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FF"/>
          </a:solidFill>
          <a:ln xmlns:a="http://schemas.openxmlformats.org/drawingml/2006/main" w="0">
            <a:solidFill>
              <a:srgbClr val="927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F192C-E98A-4D55-8546-40B176BD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8" name="p7-arrow-1">
            <a:extLst xmlns:a="http://schemas.openxmlformats.org/drawingml/2006/main">
              <a:ext uri="{FF2B5EF4-FFF2-40B4-BE49-F238E27FC236}">
                <a16:creationId xmlns:a16="http://schemas.microsoft.com/office/drawing/2014/main" id="{CA3C541E-275B-4487-82D9-6718C13E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7-arrow-2">
            <a:extLst xmlns:a="http://schemas.openxmlformats.org/drawingml/2006/main">
              <a:ext uri="{FF2B5EF4-FFF2-40B4-BE49-F238E27FC236}">
                <a16:creationId xmlns:a16="http://schemas.microsoft.com/office/drawing/2014/main" id="{991C2541-E538-4ABE-9D4D-DBFA5943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8130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7-arrow-3">
            <a:extLst xmlns:a="http://schemas.openxmlformats.org/drawingml/2006/main">
              <a:ext uri="{FF2B5EF4-FFF2-40B4-BE49-F238E27FC236}">
                <a16:creationId xmlns:a16="http://schemas.microsoft.com/office/drawing/2014/main" id="{1FEDECBF-7B38-4998-95E6-AA379044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27B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27B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p7-arrow-4">
            <a:extLst xmlns:a="http://schemas.openxmlformats.org/drawingml/2006/main">
              <a:ext uri="{FF2B5EF4-FFF2-40B4-BE49-F238E27FC236}">
                <a16:creationId xmlns:a16="http://schemas.microsoft.com/office/drawing/2014/main" id="{1E49DBBB-03D8-4D44-8515-021B2C20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7-node-0">
            <a:extLst xmlns:a="http://schemas.openxmlformats.org/drawingml/2006/main">
              <a:ext uri="{FF2B5EF4-FFF2-40B4-BE49-F238E27FC236}">
                <a16:creationId xmlns:a16="http://schemas.microsoft.com/office/drawing/2014/main" id="{58A08DDE-503A-43CF-9851-1B6D9064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54DC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73958-1D82-474C-85C9-39A521DB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CE7"/>
          </a:solidFill>
          <a:ln xmlns:a="http://schemas.openxmlformats.org/drawingml/2006/main" w="0">
            <a:solidFill>
              <a:srgbClr val="54DCE7"/>
            </a:solidFill>
            <a:prstDash val="solid"/>
          </a:ln>
        </p:spPr>
      </p:sp>
      <p:sp>
        <p:nvSpPr>
          <p:cNvPr id="14" name="p7-node-title-0">
            <a:extLst xmlns:a="http://schemas.openxmlformats.org/drawingml/2006/main">
              <a:ext uri="{FF2B5EF4-FFF2-40B4-BE49-F238E27FC236}">
                <a16:creationId xmlns:a16="http://schemas.microsoft.com/office/drawing/2014/main" id="{E87CAB94-B605-44AA-A86C-A1809BA4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rPr>
              <a:t>主播原始</a:t>
            </a:r>
          </a:p>
          <a:p xmlns:a="http://schemas.openxmlformats.org/drawingml/2006/main">
            <a:pPr algn="l">
              <a:defRPr sz="1350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rPr>
              <a:t>直播</a:t>
            </a:r>
          </a:p>
        </p:txBody>
      </p:sp>
      <p:sp>
        <p:nvSpPr>
          <p:cNvPr id="15" name="p7-node-sub-0">
            <a:extLst xmlns:a="http://schemas.openxmlformats.org/drawingml/2006/main">
              <a:ext uri="{FF2B5EF4-FFF2-40B4-BE49-F238E27FC236}">
                <a16:creationId xmlns:a16="http://schemas.microsoft.com/office/drawing/2014/main" id="{83112CD3-732D-408C-9B82-7CA8A5F5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唯一内容源</a:t>
            </a:r>
          </a:p>
        </p:txBody>
      </p:sp>
      <p:sp>
        <p:nvSpPr>
          <p:cNvPr id="16" name="p7-node-1">
            <a:extLst xmlns:a="http://schemas.openxmlformats.org/drawingml/2006/main">
              <a:ext uri="{FF2B5EF4-FFF2-40B4-BE49-F238E27FC236}">
                <a16:creationId xmlns:a16="http://schemas.microsoft.com/office/drawing/2014/main" id="{8860EF62-DF60-4B74-8E1C-0E4B8695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1085850" cy="12573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F2F5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FD241-802D-4EF7-9B1B-7AB1D4BB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90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solidFill>
              <a:srgbClr val="F2F5F7"/>
            </a:solidFill>
            <a:prstDash val="solid"/>
          </a:ln>
        </p:spPr>
      </p:sp>
      <p:sp>
        <p:nvSpPr>
          <p:cNvPr id="18" name="p7-node-title-1">
            <a:extLst xmlns:a="http://schemas.openxmlformats.org/drawingml/2006/main">
              <a:ext uri="{FF2B5EF4-FFF2-40B4-BE49-F238E27FC236}">
                <a16:creationId xmlns:a16="http://schemas.microsoft.com/office/drawing/2014/main" id="{0AC751F8-C64C-4B86-B001-791A08F8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622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上传一次</a:t>
            </a:r>
          </a:p>
        </p:txBody>
      </p:sp>
      <p:sp>
        <p:nvSpPr>
          <p:cNvPr id="19" name="p7-node-sub-1">
            <a:extLst xmlns:a="http://schemas.openxmlformats.org/drawingml/2006/main">
              <a:ext uri="{FF2B5EF4-FFF2-40B4-BE49-F238E27FC236}">
                <a16:creationId xmlns:a16="http://schemas.microsoft.com/office/drawing/2014/main" id="{9CC839CD-25C0-449F-ADF8-B9FA702C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385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原始上行</a:t>
            </a:r>
          </a:p>
        </p:txBody>
      </p:sp>
      <p:sp>
        <p:nvSpPr>
          <p:cNvPr id="20" name="p7-node-2">
            <a:extLst xmlns:a="http://schemas.openxmlformats.org/drawingml/2006/main">
              <a:ext uri="{FF2B5EF4-FFF2-40B4-BE49-F238E27FC236}">
                <a16:creationId xmlns:a16="http://schemas.microsoft.com/office/drawing/2014/main" id="{6A6EEA2E-9B5D-4CCD-A2C0-CFE7CBAF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33600"/>
            <a:ext cx="1409700" cy="1790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927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AD70E-A237-43D1-BD17-5E1CAFD4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24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FF"/>
          </a:solidFill>
          <a:ln xmlns:a="http://schemas.openxmlformats.org/drawingml/2006/main" w="0">
            <a:solidFill>
              <a:srgbClr val="927BFF"/>
            </a:solidFill>
            <a:prstDash val="solid"/>
          </a:ln>
        </p:spPr>
      </p:sp>
      <p:sp>
        <p:nvSpPr>
          <p:cNvPr id="22" name="p7-node-title-2">
            <a:extLst xmlns:a="http://schemas.openxmlformats.org/drawingml/2006/main">
              <a:ext uri="{FF2B5EF4-FFF2-40B4-BE49-F238E27FC236}">
                <a16:creationId xmlns:a16="http://schemas.microsoft.com/office/drawing/2014/main" id="{4AF66F62-0A73-47EC-8CE5-DB8347A9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rPr>
              <a:t>区域 / 边缘 AI</a:t>
            </a:r>
          </a:p>
        </p:txBody>
      </p:sp>
      <p:sp>
        <p:nvSpPr>
          <p:cNvPr id="23" name="p7-node-sub-2">
            <a:extLst xmlns:a="http://schemas.openxmlformats.org/drawingml/2006/main">
              <a:ext uri="{FF2B5EF4-FFF2-40B4-BE49-F238E27FC236}">
                <a16:creationId xmlns:a16="http://schemas.microsoft.com/office/drawing/2014/main" id="{A46DC024-A51F-41A5-A933-729705E3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1066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ASR · 翻译 · TTS</a:t>
            </a:r>
          </a:p>
          <a:p xmlns:a="http://schemas.openxmlformats.org/drawingml/2006/main">
            <a:pPr algn="l">
              <a:def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口型 · 视觉处理</a:t>
            </a:r>
          </a:p>
        </p:txBody>
      </p:sp>
      <p:sp>
        <p:nvSpPr>
          <p:cNvPr id="24" name="p7-node-3">
            <a:extLst xmlns:a="http://schemas.openxmlformats.org/drawingml/2006/main">
              <a:ext uri="{FF2B5EF4-FFF2-40B4-BE49-F238E27FC236}">
                <a16:creationId xmlns:a16="http://schemas.microsoft.com/office/drawing/2014/main" id="{C0C00F3E-EC80-42E9-8AB9-B5CA859E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1524000" cy="17907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E7B6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82DAD-2D3B-47A2-ABC1-0A941202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24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6A"/>
          </a:solidFill>
          <a:ln xmlns:a="http://schemas.openxmlformats.org/drawingml/2006/main" w="0">
            <a:solidFill>
              <a:srgbClr val="E7B66A"/>
            </a:solidFill>
            <a:prstDash val="solid"/>
          </a:ln>
        </p:spPr>
      </p:sp>
      <p:sp>
        <p:nvSpPr>
          <p:cNvPr id="26" name="p7-node-title-3">
            <a:extLst xmlns:a="http://schemas.openxmlformats.org/drawingml/2006/main">
              <a:ext uri="{FF2B5EF4-FFF2-40B4-BE49-F238E27FC236}">
                <a16:creationId xmlns:a16="http://schemas.microsoft.com/office/drawing/2014/main" id="{1ED2F6A5-5357-4E5E-A82C-F7645559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95550"/>
            <a:ext cx="1181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B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7B66A"/>
                </a:solidFill>
                <a:latin typeface="Microsoft YaHei"/>
                <a:ea typeface="Microsoft YaHei"/>
                <a:cs typeface="Microsoft YaHei"/>
              </a:rPr>
              <a:t>三市场输出</a:t>
            </a:r>
          </a:p>
        </p:txBody>
      </p:sp>
      <p:sp>
        <p:nvSpPr>
          <p:cNvPr id="27" name="p7-node-sub-3">
            <a:extLst xmlns:a="http://schemas.openxmlformats.org/drawingml/2006/main">
              <a:ext uri="{FF2B5EF4-FFF2-40B4-BE49-F238E27FC236}">
                <a16:creationId xmlns:a16="http://schemas.microsoft.com/office/drawing/2014/main" id="{4C163EA3-C4ED-4397-8873-90E63C89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71800"/>
            <a:ext cx="1181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日本 · 拉美 · 印度</a:t>
            </a:r>
          </a:p>
        </p:txBody>
      </p:sp>
      <p:sp>
        <p:nvSpPr>
          <p:cNvPr id="28" name="p7-node-4">
            <a:extLst xmlns:a="http://schemas.openxmlformats.org/drawingml/2006/main">
              <a:ext uri="{FF2B5EF4-FFF2-40B4-BE49-F238E27FC236}">
                <a16:creationId xmlns:a16="http://schemas.microsoft.com/office/drawing/2014/main" id="{50DA7F23-9852-4B55-BF1D-62178C1B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00300"/>
            <a:ext cx="1828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83E2B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8667D1-DA0E-4A48-A898-F038DED8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90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E2BA"/>
          </a:solidFill>
          <a:ln xmlns:a="http://schemas.openxmlformats.org/drawingml/2006/main" w="0">
            <a:solidFill>
              <a:srgbClr val="83E2BA"/>
            </a:solidFill>
            <a:prstDash val="solid"/>
          </a:ln>
        </p:spPr>
      </p:sp>
      <p:sp>
        <p:nvSpPr>
          <p:cNvPr id="30" name="p7-node-title-4">
            <a:extLst xmlns:a="http://schemas.openxmlformats.org/drawingml/2006/main">
              <a:ext uri="{FF2B5EF4-FFF2-40B4-BE49-F238E27FC236}">
                <a16:creationId xmlns:a16="http://schemas.microsoft.com/office/drawing/2014/main" id="{C11079F5-B91B-4A12-AA27-E53F8295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62250"/>
            <a:ext cx="148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3E2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3E2BA"/>
                </a:solidFill>
                <a:latin typeface="Microsoft YaHei"/>
                <a:ea typeface="Microsoft YaHei"/>
                <a:cs typeface="Microsoft YaHei"/>
              </a:rPr>
              <a:t>分发平台</a:t>
            </a:r>
          </a:p>
        </p:txBody>
      </p:sp>
      <p:sp>
        <p:nvSpPr>
          <p:cNvPr id="31" name="p7-node-sub-4">
            <a:extLst xmlns:a="http://schemas.openxmlformats.org/drawingml/2006/main">
              <a:ext uri="{FF2B5EF4-FFF2-40B4-BE49-F238E27FC236}">
                <a16:creationId xmlns:a16="http://schemas.microsoft.com/office/drawing/2014/main" id="{3769A1E5-F306-4C43-8CEA-D3A7B87D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385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CDN · WebRTC</a:t>
            </a:r>
          </a:p>
          <a:p xmlns:a="http://schemas.openxmlformats.org/drawingml/2006/main">
            <a:pPr algn="l">
              <a:def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直播平台</a:t>
            </a:r>
          </a:p>
        </p:txBody>
      </p:sp>
      <p:sp>
        <p:nvSpPr>
          <p:cNvPr id="32" name="p7-resource-title">
            <a:extLst xmlns:a="http://schemas.openxmlformats.org/drawingml/2006/main">
              <a:ext uri="{FF2B5EF4-FFF2-40B4-BE49-F238E27FC236}">
                <a16:creationId xmlns:a16="http://schemas.microsoft.com/office/drawing/2014/main" id="{284FF8BF-4DF5-4720-9FFE-FE4D3B4E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81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三类资源必须分开建模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B3CA11-1BDB-4F9C-8B43-20A52538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CE7"/>
          </a:solidFill>
          <a:ln xmlns:a="http://schemas.openxmlformats.org/drawingml/2006/main" w="0">
            <a:solidFill>
              <a:srgbClr val="54DCE7"/>
            </a:solidFill>
            <a:prstDash val="solid"/>
          </a:ln>
        </p:spPr>
      </p:sp>
      <p:sp>
        <p:nvSpPr>
          <p:cNvPr id="34" name="p7-domain-title-0">
            <a:extLst xmlns:a="http://schemas.openxmlformats.org/drawingml/2006/main">
              <a:ext uri="{FF2B5EF4-FFF2-40B4-BE49-F238E27FC236}">
                <a16:creationId xmlns:a16="http://schemas.microsoft.com/office/drawing/2014/main" id="{01F24288-1073-49A3-8572-ABD4E131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原始直播上行</a:t>
            </a:r>
          </a:p>
        </p:txBody>
      </p:sp>
      <p:sp>
        <p:nvSpPr>
          <p:cNvPr id="35" name="p7-domain-body-0">
            <a:extLst xmlns:a="http://schemas.openxmlformats.org/drawingml/2006/main">
              <a:ext uri="{FF2B5EF4-FFF2-40B4-BE49-F238E27FC236}">
                <a16:creationId xmlns:a16="http://schemas.microsoft.com/office/drawing/2014/main" id="{55AE3C54-1395-4969-8FA5-B9ADE848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主播设备 → AI 节点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74F8E4-07F3-468F-99D4-3395756A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10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FF"/>
          </a:solidFill>
          <a:ln xmlns:a="http://schemas.openxmlformats.org/drawingml/2006/main" w="0">
            <a:solidFill>
              <a:srgbClr val="927BFF"/>
            </a:solidFill>
            <a:prstDash val="solid"/>
          </a:ln>
        </p:spPr>
      </p:sp>
      <p:sp>
        <p:nvSpPr>
          <p:cNvPr id="37" name="p7-domain-title-1">
            <a:extLst xmlns:a="http://schemas.openxmlformats.org/drawingml/2006/main">
              <a:ext uri="{FF2B5EF4-FFF2-40B4-BE49-F238E27FC236}">
                <a16:creationId xmlns:a16="http://schemas.microsoft.com/office/drawing/2014/main" id="{BECB43DD-C7E7-4595-BBB5-C5008336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816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AI 计算资源</a:t>
            </a:r>
          </a:p>
        </p:txBody>
      </p:sp>
      <p:sp>
        <p:nvSpPr>
          <p:cNvPr id="38" name="p7-domain-body-1">
            <a:extLst xmlns:a="http://schemas.openxmlformats.org/drawingml/2006/main">
              <a:ext uri="{FF2B5EF4-FFF2-40B4-BE49-F238E27FC236}">
                <a16:creationId xmlns:a16="http://schemas.microsoft.com/office/drawing/2014/main" id="{20735778-5568-4EA4-BCEE-9D0AD78B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054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每个市场分别生成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0CCB38-574B-4EEB-8997-7B55E110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10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6A"/>
          </a:solidFill>
          <a:ln xmlns:a="http://schemas.openxmlformats.org/drawingml/2006/main" w="0">
            <a:solidFill>
              <a:srgbClr val="E7B66A"/>
            </a:solidFill>
            <a:prstDash val="solid"/>
          </a:ln>
        </p:spPr>
      </p:sp>
      <p:sp>
        <p:nvSpPr>
          <p:cNvPr id="40" name="p7-domain-title-2">
            <a:extLst xmlns:a="http://schemas.openxmlformats.org/drawingml/2006/main">
              <a:ext uri="{FF2B5EF4-FFF2-40B4-BE49-F238E27FC236}">
                <a16:creationId xmlns:a16="http://schemas.microsoft.com/office/drawing/2014/main" id="{F3FC4BC3-6F48-46D1-8A4B-DE2EC9A6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816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多市场分发</a:t>
            </a:r>
          </a:p>
        </p:txBody>
      </p:sp>
      <p:sp>
        <p:nvSpPr>
          <p:cNvPr id="41" name="p7-domain-body-2">
            <a:extLst xmlns:a="http://schemas.openxmlformats.org/drawingml/2006/main">
              <a:ext uri="{FF2B5EF4-FFF2-40B4-BE49-F238E27FC236}">
                <a16:creationId xmlns:a16="http://schemas.microsoft.com/office/drawing/2014/main" id="{784F97C6-EEDB-4B27-8BA6-BCB03E1D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054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AI 节点 → 目标观众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C4625A-277B-4FAE-A06B-16FFA36C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43" name="footer-7">
            <a:extLst xmlns:a="http://schemas.openxmlformats.org/drawingml/2006/main">
              <a:ext uri="{FF2B5EF4-FFF2-40B4-BE49-F238E27FC236}">
                <a16:creationId xmlns:a16="http://schemas.microsoft.com/office/drawing/2014/main" id="{0BD498B4-CD3F-437E-B82E-5BAD6406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TECHNICAL APPENDIX</a:t>
            </a:r>
          </a:p>
        </p:txBody>
      </p:sp>
      <p:sp>
        <p:nvSpPr>
          <p:cNvPr id="44" name="page-7">
            <a:extLst xmlns:a="http://schemas.openxmlformats.org/drawingml/2006/main">
              <a:ext uri="{FF2B5EF4-FFF2-40B4-BE49-F238E27FC236}">
                <a16:creationId xmlns:a16="http://schemas.microsoft.com/office/drawing/2014/main" id="{29334185-A807-4EBD-89D8-9E479E1C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31305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604686-2738-46CE-A67B-D07F7703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FF"/>
          </a:solidFill>
          <a:ln xmlns:a="http://schemas.openxmlformats.org/drawingml/2006/main" w="0">
            <a:solidFill>
              <a:srgbClr val="927BFF"/>
            </a:solidFill>
            <a:prstDash val="solid"/>
          </a:ln>
        </p:spPr>
      </p:sp>
      <p:sp>
        <p:nvSpPr>
          <p:cNvPr id="2" name="eyebrow-8">
            <a:extLst xmlns:a="http://schemas.openxmlformats.org/drawingml/2006/main">
              <a:ext uri="{FF2B5EF4-FFF2-40B4-BE49-F238E27FC236}">
                <a16:creationId xmlns:a16="http://schemas.microsoft.com/office/drawing/2014/main" id="{A8443398-4D1D-4DBE-805C-AB62BBBC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rPr>
              <a:t>APPENDIX 02 · CAPABILITY BOUNDARY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6C33D83F-B8E3-4B08-9FE1-C5D521C8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当前 Demo 证明体验方向，不冒充生产系统</a:t>
            </a:r>
          </a:p>
        </p:txBody>
      </p:sp>
      <p:sp>
        <p:nvSpPr>
          <p:cNvPr id="4" name="p8-num-0">
            <a:extLst xmlns:a="http://schemas.openxmlformats.org/drawingml/2006/main">
              <a:ext uri="{FF2B5EF4-FFF2-40B4-BE49-F238E27FC236}">
                <a16:creationId xmlns:a16="http://schemas.microsoft.com/office/drawing/2014/main" id="{B7321375-14A0-49E6-A618-903C13D5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4DC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4DC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5B341-6510-491C-9C44-A447133A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CE7"/>
          </a:solidFill>
          <a:ln xmlns:a="http://schemas.openxmlformats.org/drawingml/2006/main" w="0">
            <a:solidFill>
              <a:srgbClr val="54DCE7"/>
            </a:solidFill>
            <a:prstDash val="solid"/>
          </a:ln>
        </p:spPr>
      </p:sp>
      <p:sp>
        <p:nvSpPr>
          <p:cNvPr id="6" name="p8-title-0">
            <a:extLst xmlns:a="http://schemas.openxmlformats.org/drawingml/2006/main">
              <a:ext uri="{FF2B5EF4-FFF2-40B4-BE49-F238E27FC236}">
                <a16:creationId xmlns:a16="http://schemas.microsoft.com/office/drawing/2014/main" id="{B10A08A5-9537-492E-9F80-4316813C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已展示</a:t>
            </a:r>
          </a:p>
        </p:txBody>
      </p:sp>
      <p:sp>
        <p:nvSpPr>
          <p:cNvPr id="7" name="p8-body-0">
            <a:extLst xmlns:a="http://schemas.openxmlformats.org/drawingml/2006/main">
              <a:ext uri="{FF2B5EF4-FFF2-40B4-BE49-F238E27FC236}">
                <a16:creationId xmlns:a16="http://schemas.microsoft.com/office/drawing/2014/main" id="{D4CA13FD-E59E-468E-BA57-D5E9FB09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048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四段目标效果视频</a:t>
            </a:r>
          </a:p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三个市场点击切换</a:t>
            </a:r>
          </a:p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可控网络差异</a:t>
            </a:r>
          </a:p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Edge / QoD 模拟状态</a:t>
            </a:r>
          </a:p>
        </p:txBody>
      </p:sp>
      <p:sp>
        <p:nvSpPr>
          <p:cNvPr id="8" name="p8-num-1">
            <a:extLst xmlns:a="http://schemas.openxmlformats.org/drawingml/2006/main">
              <a:ext uri="{FF2B5EF4-FFF2-40B4-BE49-F238E27FC236}">
                <a16:creationId xmlns:a16="http://schemas.microsoft.com/office/drawing/2014/main" id="{1A010116-087E-4116-8844-1CA5FF0D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47850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27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927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CA384-6E05-436C-AACC-7BA1E80D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7650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FF"/>
          </a:solidFill>
          <a:ln xmlns:a="http://schemas.openxmlformats.org/drawingml/2006/main" w="0">
            <a:solidFill>
              <a:srgbClr val="927BFF"/>
            </a:solidFill>
            <a:prstDash val="solid"/>
          </a:ln>
        </p:spPr>
      </p:sp>
      <p:sp>
        <p:nvSpPr>
          <p:cNvPr id="10" name="p8-title-1">
            <a:extLst xmlns:a="http://schemas.openxmlformats.org/drawingml/2006/main">
              <a:ext uri="{FF2B5EF4-FFF2-40B4-BE49-F238E27FC236}">
                <a16:creationId xmlns:a16="http://schemas.microsoft.com/office/drawing/2014/main" id="{07F6ADCB-A3FF-46B4-A06D-CFAA0F15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11" name="p8-body-1">
            <a:extLst xmlns:a="http://schemas.openxmlformats.org/drawingml/2006/main">
              <a:ext uri="{FF2B5EF4-FFF2-40B4-BE49-F238E27FC236}">
                <a16:creationId xmlns:a16="http://schemas.microsoft.com/office/drawing/2014/main" id="{85A20769-50E2-4BC8-AF4D-F9E847D7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3048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流式 ASR 与翻译</a:t>
            </a:r>
          </a:p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目标语言语音合成</a:t>
            </a:r>
          </a:p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延迟预算与同步控制</a:t>
            </a:r>
          </a:p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真实 Provider 与回退</a:t>
            </a:r>
          </a:p>
        </p:txBody>
      </p:sp>
      <p:sp>
        <p:nvSpPr>
          <p:cNvPr id="12" name="p8-num-2">
            <a:extLst xmlns:a="http://schemas.openxmlformats.org/drawingml/2006/main">
              <a:ext uri="{FF2B5EF4-FFF2-40B4-BE49-F238E27FC236}">
                <a16:creationId xmlns:a16="http://schemas.microsoft.com/office/drawing/2014/main" id="{D6852D3F-FCDF-47BF-ACFF-B196B20A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47850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7B66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B6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E8040-A3F3-40FE-9538-D351A067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6A"/>
          </a:solidFill>
          <a:ln xmlns:a="http://schemas.openxmlformats.org/drawingml/2006/main" w="0">
            <a:solidFill>
              <a:srgbClr val="E7B66A"/>
            </a:solidFill>
            <a:prstDash val="solid"/>
          </a:ln>
        </p:spPr>
      </p:sp>
      <p:sp>
        <p:nvSpPr>
          <p:cNvPr id="14" name="p8-title-2">
            <a:extLst xmlns:a="http://schemas.openxmlformats.org/drawingml/2006/main">
              <a:ext uri="{FF2B5EF4-FFF2-40B4-BE49-F238E27FC236}">
                <a16:creationId xmlns:a16="http://schemas.microsoft.com/office/drawing/2014/main" id="{EE2C4133-6F6E-4901-9382-FD86F8DB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长期目标</a:t>
            </a:r>
          </a:p>
        </p:txBody>
      </p:sp>
      <p:sp>
        <p:nvSpPr>
          <p:cNvPr id="15" name="p8-body-2">
            <a:extLst xmlns:a="http://schemas.openxmlformats.org/drawingml/2006/main">
              <a:ext uri="{FF2B5EF4-FFF2-40B4-BE49-F238E27FC236}">
                <a16:creationId xmlns:a16="http://schemas.microsoft.com/office/drawing/2014/main" id="{CC178E0E-A168-402F-AB65-B0D5D7CA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3048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身份与动作一致性</a:t>
            </a:r>
          </a:p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写实视觉与场景重绘</a:t>
            </a:r>
          </a:p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三市场并行生成</a:t>
            </a:r>
          </a:p>
          <a:p xmlns:a="http://schemas.openxmlformats.org/drawingml/2006/main">
            <a:pPr algn="l">
              <a:def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生产级部署与运营</a:t>
            </a:r>
          </a:p>
        </p:txBody>
      </p:sp>
      <p:sp>
        <p:nvSpPr>
          <p:cNvPr id="16" name="p8-boundary">
            <a:extLst xmlns:a="http://schemas.openxmlformats.org/drawingml/2006/main">
              <a:ext uri="{FF2B5EF4-FFF2-40B4-BE49-F238E27FC236}">
                <a16:creationId xmlns:a16="http://schemas.microsoft.com/office/drawing/2014/main" id="{A7F58D0F-9F42-4EC8-B2A3-A85D99B3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C121A"/>
          </a:solidFill>
          <a:ln xmlns:a="http://schemas.openxmlformats.org/drawingml/2006/main" w="9525">
            <a:solidFill>
              <a:srgbClr val="22303D"/>
            </a:solidFill>
            <a:prstDash val="solid"/>
          </a:ln>
        </p:spPr>
      </p:sp>
      <p:sp>
        <p:nvSpPr>
          <p:cNvPr id="17" name="p8-boundary-title">
            <a:extLst xmlns:a="http://schemas.openxmlformats.org/drawingml/2006/main">
              <a:ext uri="{FF2B5EF4-FFF2-40B4-BE49-F238E27FC236}">
                <a16:creationId xmlns:a16="http://schemas.microsoft.com/office/drawing/2014/main" id="{9F2A6CB3-7CEB-444C-93EE-E708A9D2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106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rPr>
              <a:t>判断原则</a:t>
            </a:r>
          </a:p>
        </p:txBody>
      </p:sp>
      <p:sp>
        <p:nvSpPr>
          <p:cNvPr id="18" name="p8-boundary-copy">
            <a:extLst xmlns:a="http://schemas.openxmlformats.org/drawingml/2006/main">
              <a:ext uri="{FF2B5EF4-FFF2-40B4-BE49-F238E27FC236}">
                <a16:creationId xmlns:a16="http://schemas.microsoft.com/office/drawing/2014/main" id="{DC6D06DD-45D1-4AFA-A22F-7FA486E4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340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LIVE / EMULATED 按每项数据来源判断，而不是给整张页面贴一个标签。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D5C28-D24E-4943-BFB2-8C1B9E4B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20" name="footer-8">
            <a:extLst xmlns:a="http://schemas.openxmlformats.org/drawingml/2006/main">
              <a:ext uri="{FF2B5EF4-FFF2-40B4-BE49-F238E27FC236}">
                <a16:creationId xmlns:a16="http://schemas.microsoft.com/office/drawing/2014/main" id="{31875825-C84E-495B-8DDE-F8731D1F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TECHNICAL APPENDIX</a:t>
            </a:r>
          </a:p>
        </p:txBody>
      </p:sp>
      <p:sp>
        <p:nvSpPr>
          <p:cNvPr id="21" name="page-8">
            <a:extLst xmlns:a="http://schemas.openxmlformats.org/drawingml/2006/main">
              <a:ext uri="{FF2B5EF4-FFF2-40B4-BE49-F238E27FC236}">
                <a16:creationId xmlns:a16="http://schemas.microsoft.com/office/drawing/2014/main" id="{558EAEE0-A37E-415B-BC0E-CB3107C4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78704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7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DCA6A9-1781-493E-8A27-2D43150D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FF"/>
          </a:solidFill>
          <a:ln xmlns:a="http://schemas.openxmlformats.org/drawingml/2006/main" w="0">
            <a:solidFill>
              <a:srgbClr val="927BFF"/>
            </a:solidFill>
            <a:prstDash val="solid"/>
          </a:ln>
        </p:spPr>
      </p:sp>
      <p:sp>
        <p:nvSpPr>
          <p:cNvPr id="2" name="eyebrow-9">
            <a:extLst xmlns:a="http://schemas.openxmlformats.org/drawingml/2006/main">
              <a:ext uri="{FF2B5EF4-FFF2-40B4-BE49-F238E27FC236}">
                <a16:creationId xmlns:a16="http://schemas.microsoft.com/office/drawing/2014/main" id="{74951C18-D3DE-4A47-B07E-D4D94280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rPr>
              <a:t>APPENDIX 03 · TECHNICAL BASIS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FD53008A-BEA0-44ED-B8F2-10A21878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技术路径已有依据，工程重点在整合与稳定</a:t>
            </a:r>
          </a:p>
        </p:txBody>
      </p:sp>
      <p:sp>
        <p:nvSpPr>
          <p:cNvPr id="4" name="p9-num-0">
            <a:extLst xmlns:a="http://schemas.openxmlformats.org/drawingml/2006/main">
              <a:ext uri="{FF2B5EF4-FFF2-40B4-BE49-F238E27FC236}">
                <a16:creationId xmlns:a16="http://schemas.microsoft.com/office/drawing/2014/main" id="{D8FD98B0-DBFA-4349-AA9A-24737DC9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4DCE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4DC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B3280-DAA8-4F73-8AF1-13D9B751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62150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6" name="p9-title-0">
            <a:extLst xmlns:a="http://schemas.openxmlformats.org/drawingml/2006/main">
              <a:ext uri="{FF2B5EF4-FFF2-40B4-BE49-F238E27FC236}">
                <a16:creationId xmlns:a16="http://schemas.microsoft.com/office/drawing/2014/main" id="{859C4FB7-E7D6-4BEB-B81A-BC306D14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7170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4DCE7"/>
                </a:solidFill>
                <a:latin typeface="Microsoft YaHei"/>
                <a:ea typeface="Microsoft YaHei"/>
                <a:cs typeface="Microsoft YaHei"/>
              </a:rPr>
              <a:t>RTP / RTCP</a:t>
            </a:r>
          </a:p>
        </p:txBody>
      </p:sp>
      <p:sp>
        <p:nvSpPr>
          <p:cNvPr id="7" name="p9-body-0">
            <a:extLst xmlns:a="http://schemas.openxmlformats.org/drawingml/2006/main">
              <a:ext uri="{FF2B5EF4-FFF2-40B4-BE49-F238E27FC236}">
                <a16:creationId xmlns:a16="http://schemas.microsoft.com/office/drawing/2014/main" id="{E4B4703F-D500-418F-A618-8826791E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52700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跨媒体时间戳与音视频同步机制</a:t>
            </a:r>
          </a:p>
        </p:txBody>
      </p:sp>
      <p:sp>
        <p:nvSpPr>
          <p:cNvPr id="8" name="p9-num-1">
            <a:extLst xmlns:a="http://schemas.openxmlformats.org/drawingml/2006/main">
              <a:ext uri="{FF2B5EF4-FFF2-40B4-BE49-F238E27FC236}">
                <a16:creationId xmlns:a16="http://schemas.microsoft.com/office/drawing/2014/main" id="{A592661D-B566-4F9A-99D9-69856CD6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27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27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28E40-788F-47C7-8873-B661A603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62150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10" name="p9-title-1">
            <a:extLst xmlns:a="http://schemas.openxmlformats.org/drawingml/2006/main">
              <a:ext uri="{FF2B5EF4-FFF2-40B4-BE49-F238E27FC236}">
                <a16:creationId xmlns:a16="http://schemas.microsoft.com/office/drawing/2014/main" id="{1CBE7B44-FBBF-41FB-BC59-ED5BEB2D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27BFF"/>
                </a:solidFill>
                <a:latin typeface="Microsoft YaHei"/>
                <a:ea typeface="Microsoft YaHei"/>
                <a:cs typeface="Microsoft YaHei"/>
              </a:rPr>
              <a:t>ETSI MEC</a:t>
            </a:r>
          </a:p>
        </p:txBody>
      </p:sp>
      <p:sp>
        <p:nvSpPr>
          <p:cNvPr id="11" name="p9-body-1">
            <a:extLst xmlns:a="http://schemas.openxmlformats.org/drawingml/2006/main">
              <a:ext uri="{FF2B5EF4-FFF2-40B4-BE49-F238E27FC236}">
                <a16:creationId xmlns:a16="http://schemas.microsoft.com/office/drawing/2014/main" id="{0C9E1C13-669D-44A1-B5C3-D8834A83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52700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面向低时延应用的边缘计算环境</a:t>
            </a:r>
          </a:p>
        </p:txBody>
      </p:sp>
      <p:sp>
        <p:nvSpPr>
          <p:cNvPr id="12" name="p9-num-2">
            <a:extLst xmlns:a="http://schemas.openxmlformats.org/drawingml/2006/main">
              <a:ext uri="{FF2B5EF4-FFF2-40B4-BE49-F238E27FC236}">
                <a16:creationId xmlns:a16="http://schemas.microsoft.com/office/drawing/2014/main" id="{ABC08F06-59C8-4B81-A80F-9CD3C68D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B66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B6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7571A-00EF-41EF-8CD2-16B80296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05200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14" name="p9-title-2">
            <a:extLst xmlns:a="http://schemas.openxmlformats.org/drawingml/2006/main">
              <a:ext uri="{FF2B5EF4-FFF2-40B4-BE49-F238E27FC236}">
                <a16:creationId xmlns:a16="http://schemas.microsoft.com/office/drawing/2014/main" id="{594D3FF7-0915-40D7-9084-7DB0E4CA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147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B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7B66A"/>
                </a:solidFill>
                <a:latin typeface="Microsoft YaHei"/>
                <a:ea typeface="Microsoft YaHei"/>
                <a:cs typeface="Microsoft YaHei"/>
              </a:rPr>
              <a:t>GSMA / CAMARA QoD</a:t>
            </a:r>
          </a:p>
        </p:txBody>
      </p:sp>
      <p:sp>
        <p:nvSpPr>
          <p:cNvPr id="15" name="p9-body-2">
            <a:extLst xmlns:a="http://schemas.openxmlformats.org/drawingml/2006/main">
              <a:ext uri="{FF2B5EF4-FFF2-40B4-BE49-F238E27FC236}">
                <a16:creationId xmlns:a16="http://schemas.microsoft.com/office/drawing/2014/main" id="{1D6718CC-34BB-47D2-9B6E-BE97CCFA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95750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针对指定应用流申请质量保障</a:t>
            </a:r>
          </a:p>
        </p:txBody>
      </p:sp>
      <p:sp>
        <p:nvSpPr>
          <p:cNvPr id="16" name="p9-num-3">
            <a:extLst xmlns:a="http://schemas.openxmlformats.org/drawingml/2006/main">
              <a:ext uri="{FF2B5EF4-FFF2-40B4-BE49-F238E27FC236}">
                <a16:creationId xmlns:a16="http://schemas.microsoft.com/office/drawing/2014/main" id="{4E94F980-B254-4444-99DF-7A1605A8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3E2B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3E2B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A1675-5D2F-4869-9FA9-2B586DA4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18" name="p9-title-3">
            <a:extLst xmlns:a="http://schemas.openxmlformats.org/drawingml/2006/main">
              <a:ext uri="{FF2B5EF4-FFF2-40B4-BE49-F238E27FC236}">
                <a16:creationId xmlns:a16="http://schemas.microsoft.com/office/drawing/2014/main" id="{6BD93298-3DA7-4733-B5F2-9696A30F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147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3E2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3E2BA"/>
                </a:solidFill>
                <a:latin typeface="Microsoft YaHei"/>
                <a:ea typeface="Microsoft YaHei"/>
                <a:cs typeface="Microsoft YaHei"/>
              </a:rPr>
              <a:t>Google / Meta</a:t>
            </a:r>
          </a:p>
        </p:txBody>
      </p:sp>
      <p:sp>
        <p:nvSpPr>
          <p:cNvPr id="19" name="p9-body-3">
            <a:extLst xmlns:a="http://schemas.openxmlformats.org/drawingml/2006/main">
              <a:ext uri="{FF2B5EF4-FFF2-40B4-BE49-F238E27FC236}">
                <a16:creationId xmlns:a16="http://schemas.microsoft.com/office/drawing/2014/main" id="{A3E421E8-1C09-4019-85BC-B0D28D5C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95750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流式语音到语音翻译研究与系统</a:t>
            </a:r>
          </a:p>
        </p:txBody>
      </p:sp>
      <p:sp>
        <p:nvSpPr>
          <p:cNvPr id="20" name="p9-conclusion">
            <a:extLst xmlns:a="http://schemas.openxmlformats.org/drawingml/2006/main">
              <a:ext uri="{FF2B5EF4-FFF2-40B4-BE49-F238E27FC236}">
                <a16:creationId xmlns:a16="http://schemas.microsoft.com/office/drawing/2014/main" id="{816A61F4-C10C-4F04-BFBD-211B5684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可行性已经被分模块验证；</a:t>
            </a:r>
          </a:p>
          <a:p xmlns:a="http://schemas.openxmlformats.org/drawingml/2006/main">
            <a:pPr algn="l">
              <a:defRPr sz="19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真正的难点，是把它们整合成稳定的端到端实时系统。</a:t>
            </a:r>
          </a:p>
        </p:txBody>
      </p:sp>
      <p:sp>
        <p:nvSpPr>
          <p:cNvPr id="21" name="p9-source-note">
            <a:extLst xmlns:a="http://schemas.openxmlformats.org/drawingml/2006/main">
              <a:ext uri="{FF2B5EF4-FFF2-40B4-BE49-F238E27FC236}">
                <a16:creationId xmlns:a16="http://schemas.microsoft.com/office/drawing/2014/main" id="{2D5847D8-7013-4827-BFF0-B774CCAB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0540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官方来源</a:t>
            </a:r>
          </a:p>
          <a:p xmlns:a="http://schemas.openxmlformats.org/drawingml/2006/main">
            <a:pPr algn="r">
              <a:def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RFC Editor · ETSI · GSMA / CAMARA</a:t>
            </a:r>
          </a:p>
          <a:p xmlns:a="http://schemas.openxmlformats.org/drawingml/2006/main">
            <a:pPr algn="r">
              <a:def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5B3"/>
                </a:solidFill>
                <a:latin typeface="Microsoft YaHei"/>
                <a:ea typeface="Microsoft YaHei"/>
                <a:cs typeface="Microsoft YaHei"/>
              </a:rPr>
              <a:t>Google Research · Meta AI Research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CC9CD-D6EE-4986-B8F9-96F021A8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D"/>
          </a:solidFill>
          <a:ln xmlns:a="http://schemas.openxmlformats.org/drawingml/2006/main" w="0">
            <a:solidFill>
              <a:srgbClr val="22303D"/>
            </a:solidFill>
            <a:prstDash val="solid"/>
          </a:ln>
        </p:spPr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B3AF2EF8-51E9-4AE2-91BA-9721906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TECHNICAL APPENDIX</a:t>
            </a:r>
          </a:p>
        </p:txBody>
      </p:sp>
      <p:sp>
        <p:nvSpPr>
          <p:cNvPr id="24" name="page-9">
            <a:extLst xmlns:a="http://schemas.openxmlformats.org/drawingml/2006/main">
              <a:ext uri="{FF2B5EF4-FFF2-40B4-BE49-F238E27FC236}">
                <a16:creationId xmlns:a16="http://schemas.microsoft.com/office/drawing/2014/main" id="{3EC6FD5B-2169-4A47-9566-BA98F998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8A5B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8A5B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8335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2026-08-09T17:21:28.9340000Z</dcterms:created>
  <dcterms:modified xsi:type="dcterms:W3CDTF">2026-08-09T17:21:28.9350000Z</dcterms:modified>
</coreProperties>
</file>